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5" r:id="rId2"/>
    <p:sldId id="269" r:id="rId3"/>
    <p:sldId id="270" r:id="rId4"/>
  </p:sldIdLst>
  <p:sldSz cx="882015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74" userDrawn="1">
          <p15:clr>
            <a:srgbClr val="A4A3A4"/>
          </p15:clr>
        </p15:guide>
        <p15:guide id="2" pos="27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5F2F5"/>
    <a:srgbClr val="CCECFF"/>
    <a:srgbClr val="02F186"/>
    <a:srgbClr val="C1FFE3"/>
    <a:srgbClr val="018D4E"/>
    <a:srgbClr val="520058"/>
    <a:srgbClr val="39003D"/>
    <a:srgbClr val="F100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71" y="730"/>
      </p:cViewPr>
      <p:guideLst>
        <p:guide orient="horz" pos="1474"/>
        <p:guide pos="27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519" y="765909"/>
            <a:ext cx="6615113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519" y="2458058"/>
            <a:ext cx="6615113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7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92" y="1166738"/>
            <a:ext cx="7607379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792" y="3131884"/>
            <a:ext cx="7607379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6385" y="1245820"/>
            <a:ext cx="3748564" cy="29693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5201" y="1245820"/>
            <a:ext cx="3748564" cy="29693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57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34" y="249164"/>
            <a:ext cx="7607379" cy="9045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34" y="1147238"/>
            <a:ext cx="3731337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534" y="1709482"/>
            <a:ext cx="3731337" cy="25143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65201" y="1147238"/>
            <a:ext cx="3749713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65201" y="1709482"/>
            <a:ext cx="3749713" cy="25143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15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012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92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34" y="311997"/>
            <a:ext cx="2844728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713" y="673826"/>
            <a:ext cx="4465201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34" y="1403985"/>
            <a:ext cx="2844728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00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34" y="311997"/>
            <a:ext cx="2844728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49713" y="673826"/>
            <a:ext cx="4465201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34" y="1403985"/>
            <a:ext cx="2844728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66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1920" y="249164"/>
            <a:ext cx="1901845" cy="396604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6385" y="249164"/>
            <a:ext cx="5595283" cy="396604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38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6386" y="249164"/>
            <a:ext cx="7607379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386" y="1245820"/>
            <a:ext cx="7607379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385" y="4337621"/>
            <a:ext cx="1984534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5F45F-7FF7-4AA6-9E5C-20A469923D65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1675" y="4337621"/>
            <a:ext cx="2976801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29231" y="4337621"/>
            <a:ext cx="1984534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B724F-E2F3-4620-A3D2-4C44EF44344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63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E9DA2-98BF-9E82-B89F-DF9A1056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ángulo 165">
            <a:extLst>
              <a:ext uri="{FF2B5EF4-FFF2-40B4-BE49-F238E27FC236}">
                <a16:creationId xmlns:a16="http://schemas.microsoft.com/office/drawing/2014/main" id="{95309932-D5EC-019E-FB8D-68387AC6B8B9}"/>
              </a:ext>
            </a:extLst>
          </p:cNvPr>
          <p:cNvSpPr/>
          <p:nvPr/>
        </p:nvSpPr>
        <p:spPr>
          <a:xfrm>
            <a:off x="7081607" y="0"/>
            <a:ext cx="1726571" cy="4679950"/>
          </a:xfrm>
          <a:prstGeom prst="rect">
            <a:avLst/>
          </a:prstGeom>
          <a:solidFill>
            <a:srgbClr val="39003D">
              <a:alpha val="5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2F186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C7CC223-68C5-E26F-4899-F08D35BFAC8D}"/>
              </a:ext>
            </a:extLst>
          </p:cNvPr>
          <p:cNvSpPr/>
          <p:nvPr/>
        </p:nvSpPr>
        <p:spPr>
          <a:xfrm>
            <a:off x="367044" y="121912"/>
            <a:ext cx="3976355" cy="4564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noProof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Extractive Task on Tables: Workflow</a:t>
            </a:r>
          </a:p>
        </p:txBody>
      </p:sp>
      <p:grpSp>
        <p:nvGrpSpPr>
          <p:cNvPr id="92" name="Grupo 91">
            <a:extLst>
              <a:ext uri="{FF2B5EF4-FFF2-40B4-BE49-F238E27FC236}">
                <a16:creationId xmlns:a16="http://schemas.microsoft.com/office/drawing/2014/main" id="{374C9BC2-F361-ECB1-2C28-F83279167D63}"/>
              </a:ext>
            </a:extLst>
          </p:cNvPr>
          <p:cNvGrpSpPr/>
          <p:nvPr/>
        </p:nvGrpSpPr>
        <p:grpSpPr>
          <a:xfrm>
            <a:off x="763160" y="582745"/>
            <a:ext cx="4563346" cy="1031366"/>
            <a:chOff x="763160" y="582745"/>
            <a:chExt cx="4563346" cy="1031366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9FE8748C-4326-D251-CF07-37C445AC46F8}"/>
                </a:ext>
              </a:extLst>
            </p:cNvPr>
            <p:cNvSpPr/>
            <p:nvPr/>
          </p:nvSpPr>
          <p:spPr>
            <a:xfrm>
              <a:off x="763160" y="904947"/>
              <a:ext cx="816810" cy="45640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System Selection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9C64304-BCA4-45E2-D99C-168F3346C254}"/>
                </a:ext>
              </a:extLst>
            </p:cNvPr>
            <p:cNvSpPr/>
            <p:nvPr/>
          </p:nvSpPr>
          <p:spPr>
            <a:xfrm>
              <a:off x="2232481" y="878232"/>
              <a:ext cx="1027795" cy="507225"/>
            </a:xfrm>
            <a:prstGeom prst="rect">
              <a:avLst/>
            </a:prstGeom>
            <a:solidFill>
              <a:srgbClr val="CCEC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SaaS - OpenAI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98C0026-0E93-F529-EF2F-DB9B39F60F93}"/>
                </a:ext>
              </a:extLst>
            </p:cNvPr>
            <p:cNvSpPr/>
            <p:nvPr/>
          </p:nvSpPr>
          <p:spPr>
            <a:xfrm>
              <a:off x="3809000" y="903642"/>
              <a:ext cx="601075" cy="45640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Solved?</a:t>
              </a:r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61196304-25C9-FA4C-9F4E-984DD266ADDD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 flipV="1">
              <a:off x="3260276" y="1131843"/>
              <a:ext cx="548724" cy="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365EF509-0CC8-9E4E-60AF-34F1EE1EF5CB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 flipV="1">
              <a:off x="1579970" y="1131845"/>
              <a:ext cx="652511" cy="1303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76B7035-4F40-9B86-CBE5-C743FEC3E59B}"/>
                </a:ext>
              </a:extLst>
            </p:cNvPr>
            <p:cNvGrpSpPr/>
            <p:nvPr/>
          </p:nvGrpSpPr>
          <p:grpSpPr>
            <a:xfrm>
              <a:off x="4413986" y="582745"/>
              <a:ext cx="912520" cy="1031366"/>
              <a:chOff x="4410075" y="822775"/>
              <a:chExt cx="912520" cy="1031366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AB0367-0553-D430-238D-C1FA4441472A}"/>
                  </a:ext>
                </a:extLst>
              </p:cNvPr>
              <p:cNvGrpSpPr/>
              <p:nvPr/>
            </p:nvGrpSpPr>
            <p:grpSpPr>
              <a:xfrm>
                <a:off x="4829174" y="822775"/>
                <a:ext cx="448437" cy="456402"/>
                <a:chOff x="4869179" y="933265"/>
                <a:chExt cx="448437" cy="45640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C1B06A06-15BA-0958-DCB1-618AE9066E88}"/>
                    </a:ext>
                  </a:extLst>
                </p:cNvPr>
                <p:cNvSpPr/>
                <p:nvPr/>
              </p:nvSpPr>
              <p:spPr>
                <a:xfrm>
                  <a:off x="4926012" y="1028464"/>
                  <a:ext cx="270000" cy="270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200" dirty="0"/>
                </a:p>
              </p:txBody>
            </p:sp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44AA6117-EFDC-80E4-3059-309BD7E94AE6}"/>
                    </a:ext>
                  </a:extLst>
                </p:cNvPr>
                <p:cNvSpPr/>
                <p:nvPr/>
              </p:nvSpPr>
              <p:spPr>
                <a:xfrm>
                  <a:off x="4869179" y="933265"/>
                  <a:ext cx="448437" cy="45640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ES" sz="900" noProof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Yes</a:t>
                  </a:r>
                </a:p>
              </p:txBody>
            </p:sp>
          </p:grpSp>
          <p:cxnSp>
            <p:nvCxnSpPr>
              <p:cNvPr id="43" name="Conector recto de flecha 42">
                <a:extLst>
                  <a:ext uri="{FF2B5EF4-FFF2-40B4-BE49-F238E27FC236}">
                    <a16:creationId xmlns:a16="http://schemas.microsoft.com/office/drawing/2014/main" id="{EE97A5FA-7920-041E-8575-38700DBAF488}"/>
                  </a:ext>
                </a:extLst>
              </p:cNvPr>
              <p:cNvCxnSpPr>
                <a:cxnSpLocks/>
                <a:stCxn id="17" idx="3"/>
              </p:cNvCxnSpPr>
              <p:nvPr/>
            </p:nvCxnSpPr>
            <p:spPr>
              <a:xfrm>
                <a:off x="4410075" y="1371873"/>
                <a:ext cx="359735" cy="0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B57E9300-CD28-576B-7F1F-96864F052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0120" y="1168772"/>
                <a:ext cx="104038" cy="202982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upo 54">
                <a:extLst>
                  <a:ext uri="{FF2B5EF4-FFF2-40B4-BE49-F238E27FC236}">
                    <a16:creationId xmlns:a16="http://schemas.microsoft.com/office/drawing/2014/main" id="{8F7CBF50-25B6-C5AB-D756-82D60CD2E1C5}"/>
                  </a:ext>
                </a:extLst>
              </p:cNvPr>
              <p:cNvGrpSpPr/>
              <p:nvPr/>
            </p:nvGrpSpPr>
            <p:grpSpPr>
              <a:xfrm>
                <a:off x="4874158" y="1397739"/>
                <a:ext cx="448437" cy="456402"/>
                <a:chOff x="5057202" y="1352763"/>
                <a:chExt cx="448437" cy="456402"/>
              </a:xfrm>
            </p:grpSpPr>
            <p:sp>
              <p:nvSpPr>
                <p:cNvPr id="38" name="Rectángulo 37">
                  <a:extLst>
                    <a:ext uri="{FF2B5EF4-FFF2-40B4-BE49-F238E27FC236}">
                      <a16:creationId xmlns:a16="http://schemas.microsoft.com/office/drawing/2014/main" id="{A5C40BEF-E021-DC75-AC85-0B58841DE820}"/>
                    </a:ext>
                  </a:extLst>
                </p:cNvPr>
                <p:cNvSpPr/>
                <p:nvPr/>
              </p:nvSpPr>
              <p:spPr>
                <a:xfrm>
                  <a:off x="5057202" y="1352763"/>
                  <a:ext cx="448437" cy="45640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ES" sz="900" noProof="1">
                      <a:solidFill>
                        <a:srgbClr val="7030A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</a:t>
                  </a:r>
                </a:p>
              </p:txBody>
            </p:sp>
            <p:sp>
              <p:nvSpPr>
                <p:cNvPr id="53" name="Rectángulo 52">
                  <a:extLst>
                    <a:ext uri="{FF2B5EF4-FFF2-40B4-BE49-F238E27FC236}">
                      <a16:creationId xmlns:a16="http://schemas.microsoft.com/office/drawing/2014/main" id="{BA023985-DC86-96E6-72E2-9466ACBB5C82}"/>
                    </a:ext>
                  </a:extLst>
                </p:cNvPr>
                <p:cNvSpPr/>
                <p:nvPr/>
              </p:nvSpPr>
              <p:spPr>
                <a:xfrm>
                  <a:off x="5103784" y="1465950"/>
                  <a:ext cx="234000" cy="234000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54" name="Conector recto de flecha 53">
                <a:extLst>
                  <a:ext uri="{FF2B5EF4-FFF2-40B4-BE49-F238E27FC236}">
                    <a16:creationId xmlns:a16="http://schemas.microsoft.com/office/drawing/2014/main" id="{6DEA05FF-6A44-F887-27F1-9643B79678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0120" y="1367888"/>
                <a:ext cx="104038" cy="202982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7" name="Rectángulo 86">
            <a:extLst>
              <a:ext uri="{FF2B5EF4-FFF2-40B4-BE49-F238E27FC236}">
                <a16:creationId xmlns:a16="http://schemas.microsoft.com/office/drawing/2014/main" id="{0D055F2F-9E98-3063-B6E7-F9DF314D3BA0}"/>
              </a:ext>
            </a:extLst>
          </p:cNvPr>
          <p:cNvSpPr/>
          <p:nvPr/>
        </p:nvSpPr>
        <p:spPr>
          <a:xfrm>
            <a:off x="3286436" y="669575"/>
            <a:ext cx="108000" cy="10800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085AED5A-ACD3-CB54-25F4-EBEEB86F95D4}"/>
              </a:ext>
            </a:extLst>
          </p:cNvPr>
          <p:cNvSpPr/>
          <p:nvPr/>
        </p:nvSpPr>
        <p:spPr>
          <a:xfrm>
            <a:off x="5293279" y="669575"/>
            <a:ext cx="108000" cy="10800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7DC20520-42A2-5858-0996-B8F5D34EDCD4}"/>
              </a:ext>
            </a:extLst>
          </p:cNvPr>
          <p:cNvGrpSpPr/>
          <p:nvPr/>
        </p:nvGrpSpPr>
        <p:grpSpPr>
          <a:xfrm>
            <a:off x="7318938" y="803482"/>
            <a:ext cx="1409771" cy="203716"/>
            <a:chOff x="7318938" y="2685622"/>
            <a:chExt cx="1409771" cy="203716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9AB7D013-32E1-A7FD-C1D6-419EA9E56AB7}"/>
                </a:ext>
              </a:extLst>
            </p:cNvPr>
            <p:cNvSpPr/>
            <p:nvPr/>
          </p:nvSpPr>
          <p:spPr>
            <a:xfrm>
              <a:off x="7428460" y="2685622"/>
              <a:ext cx="1300249" cy="2037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700" b="1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OpenAI API </a:t>
              </a:r>
              <a:r>
                <a:rPr lang="es-ES" sz="700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(no assistant).</a:t>
              </a:r>
            </a:p>
            <a:p>
              <a:r>
                <a:rPr lang="es-ES" sz="700" b="1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</a:t>
              </a:r>
              <a:r>
                <a:rPr lang="es-ES" sz="700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gpt4-o</a:t>
              </a:r>
            </a:p>
          </p:txBody>
        </p:sp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2FCBA90D-7394-F75B-A429-5CB05DF45AEE}"/>
                </a:ext>
              </a:extLst>
            </p:cNvPr>
            <p:cNvSpPr/>
            <p:nvPr/>
          </p:nvSpPr>
          <p:spPr>
            <a:xfrm>
              <a:off x="7318938" y="2733776"/>
              <a:ext cx="108000" cy="108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s-ES" sz="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E7899A1-682E-2018-3DE9-BA2EF7536A2F}"/>
              </a:ext>
            </a:extLst>
          </p:cNvPr>
          <p:cNvSpPr/>
          <p:nvPr/>
        </p:nvSpPr>
        <p:spPr>
          <a:xfrm>
            <a:off x="2052638" y="2007482"/>
            <a:ext cx="3512723" cy="1057317"/>
          </a:xfrm>
          <a:prstGeom prst="rect">
            <a:avLst/>
          </a:prstGeom>
          <a:solidFill>
            <a:srgbClr val="39003D">
              <a:alpha val="5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2F186"/>
              </a:solidFill>
            </a:endParaRPr>
          </a:p>
        </p:txBody>
      </p: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1717ED88-FFCE-B79D-DCF2-7A7E625B2312}"/>
              </a:ext>
            </a:extLst>
          </p:cNvPr>
          <p:cNvGrpSpPr/>
          <p:nvPr/>
        </p:nvGrpSpPr>
        <p:grpSpPr>
          <a:xfrm>
            <a:off x="2232481" y="2028535"/>
            <a:ext cx="3168798" cy="1031366"/>
            <a:chOff x="2232481" y="1971132"/>
            <a:chExt cx="3168798" cy="1031366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7646C31-8C1A-6C5F-F3D3-59FB5FE4E715}"/>
                </a:ext>
              </a:extLst>
            </p:cNvPr>
            <p:cNvSpPr/>
            <p:nvPr/>
          </p:nvSpPr>
          <p:spPr>
            <a:xfrm>
              <a:off x="2232481" y="2263281"/>
              <a:ext cx="1027795" cy="507225"/>
            </a:xfrm>
            <a:prstGeom prst="rect">
              <a:avLst/>
            </a:prstGeom>
            <a:solidFill>
              <a:srgbClr val="CCEC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0-shot/few-shot Local Model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E726224B-5A2B-B831-FE9E-F3343D0F8C1C}"/>
                </a:ext>
              </a:extLst>
            </p:cNvPr>
            <p:cNvSpPr/>
            <p:nvPr/>
          </p:nvSpPr>
          <p:spPr>
            <a:xfrm>
              <a:off x="3809000" y="2289037"/>
              <a:ext cx="601075" cy="45640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Solved?</a:t>
              </a:r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7D06C5C8-F8D3-CF82-0FF5-C7F5722F8106}"/>
                </a:ext>
              </a:extLst>
            </p:cNvPr>
            <p:cNvCxnSpPr>
              <a:cxnSpLocks/>
              <a:stCxn id="14" idx="3"/>
              <a:endCxn id="18" idx="1"/>
            </p:cNvCxnSpPr>
            <p:nvPr/>
          </p:nvCxnSpPr>
          <p:spPr>
            <a:xfrm>
              <a:off x="3260276" y="2516894"/>
              <a:ext cx="548724" cy="34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EB271416-E14F-A123-53C6-9226092D6308}"/>
                </a:ext>
              </a:extLst>
            </p:cNvPr>
            <p:cNvGrpSpPr/>
            <p:nvPr/>
          </p:nvGrpSpPr>
          <p:grpSpPr>
            <a:xfrm>
              <a:off x="4413986" y="1971132"/>
              <a:ext cx="912520" cy="1031366"/>
              <a:chOff x="4410075" y="822775"/>
              <a:chExt cx="912520" cy="1031366"/>
            </a:xfrm>
          </p:grpSpPr>
          <p:grpSp>
            <p:nvGrpSpPr>
              <p:cNvPr id="64" name="Grupo 63">
                <a:extLst>
                  <a:ext uri="{FF2B5EF4-FFF2-40B4-BE49-F238E27FC236}">
                    <a16:creationId xmlns:a16="http://schemas.microsoft.com/office/drawing/2014/main" id="{3533C0BB-36FC-E8BA-2B8D-991FB905DA20}"/>
                  </a:ext>
                </a:extLst>
              </p:cNvPr>
              <p:cNvGrpSpPr/>
              <p:nvPr/>
            </p:nvGrpSpPr>
            <p:grpSpPr>
              <a:xfrm>
                <a:off x="4829174" y="822775"/>
                <a:ext cx="448437" cy="456402"/>
                <a:chOff x="4869179" y="933265"/>
                <a:chExt cx="448437" cy="456402"/>
              </a:xfrm>
            </p:grpSpPr>
            <p:sp>
              <p:nvSpPr>
                <p:cNvPr id="71" name="Elipse 70">
                  <a:extLst>
                    <a:ext uri="{FF2B5EF4-FFF2-40B4-BE49-F238E27FC236}">
                      <a16:creationId xmlns:a16="http://schemas.microsoft.com/office/drawing/2014/main" id="{FF060121-DD9E-8DB5-A774-92409BC4A005}"/>
                    </a:ext>
                  </a:extLst>
                </p:cNvPr>
                <p:cNvSpPr/>
                <p:nvPr/>
              </p:nvSpPr>
              <p:spPr>
                <a:xfrm>
                  <a:off x="4926012" y="1028464"/>
                  <a:ext cx="270000" cy="270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200" dirty="0"/>
                </a:p>
              </p:txBody>
            </p:sp>
            <p:sp>
              <p:nvSpPr>
                <p:cNvPr id="72" name="Rectángulo 71">
                  <a:extLst>
                    <a:ext uri="{FF2B5EF4-FFF2-40B4-BE49-F238E27FC236}">
                      <a16:creationId xmlns:a16="http://schemas.microsoft.com/office/drawing/2014/main" id="{0DC7679B-5002-E310-14C1-7855D2BC97C2}"/>
                    </a:ext>
                  </a:extLst>
                </p:cNvPr>
                <p:cNvSpPr/>
                <p:nvPr/>
              </p:nvSpPr>
              <p:spPr>
                <a:xfrm>
                  <a:off x="4869179" y="933265"/>
                  <a:ext cx="448437" cy="45640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ES" sz="900" noProof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Yes</a:t>
                  </a:r>
                </a:p>
              </p:txBody>
            </p:sp>
          </p:grpSp>
          <p:cxnSp>
            <p:nvCxnSpPr>
              <p:cNvPr id="65" name="Conector recto de flecha 64">
                <a:extLst>
                  <a:ext uri="{FF2B5EF4-FFF2-40B4-BE49-F238E27FC236}">
                    <a16:creationId xmlns:a16="http://schemas.microsoft.com/office/drawing/2014/main" id="{D7058EB9-496C-B3DA-3644-77ADE5501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075" y="1371873"/>
                <a:ext cx="359735" cy="0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de flecha 65">
                <a:extLst>
                  <a:ext uri="{FF2B5EF4-FFF2-40B4-BE49-F238E27FC236}">
                    <a16:creationId xmlns:a16="http://schemas.microsoft.com/office/drawing/2014/main" id="{8745E755-A201-CAD8-E8FE-E0F386251A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0120" y="1168772"/>
                <a:ext cx="104038" cy="202982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1578FFC7-E4B2-3015-29F1-8B12205F36F4}"/>
                  </a:ext>
                </a:extLst>
              </p:cNvPr>
              <p:cNvGrpSpPr/>
              <p:nvPr/>
            </p:nvGrpSpPr>
            <p:grpSpPr>
              <a:xfrm>
                <a:off x="4874158" y="1397739"/>
                <a:ext cx="448437" cy="456402"/>
                <a:chOff x="5057202" y="1352763"/>
                <a:chExt cx="448437" cy="456402"/>
              </a:xfrm>
            </p:grpSpPr>
            <p:sp>
              <p:nvSpPr>
                <p:cNvPr id="69" name="Rectángulo 68">
                  <a:extLst>
                    <a:ext uri="{FF2B5EF4-FFF2-40B4-BE49-F238E27FC236}">
                      <a16:creationId xmlns:a16="http://schemas.microsoft.com/office/drawing/2014/main" id="{6C5153AB-6EA2-74B1-4DCB-531432C864EE}"/>
                    </a:ext>
                  </a:extLst>
                </p:cNvPr>
                <p:cNvSpPr/>
                <p:nvPr/>
              </p:nvSpPr>
              <p:spPr>
                <a:xfrm>
                  <a:off x="5057202" y="1352763"/>
                  <a:ext cx="448437" cy="45640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ES" sz="900" noProof="1">
                      <a:solidFill>
                        <a:srgbClr val="7030A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</a:t>
                  </a:r>
                </a:p>
              </p:txBody>
            </p:sp>
            <p:sp>
              <p:nvSpPr>
                <p:cNvPr id="70" name="Rectángulo 69">
                  <a:extLst>
                    <a:ext uri="{FF2B5EF4-FFF2-40B4-BE49-F238E27FC236}">
                      <a16:creationId xmlns:a16="http://schemas.microsoft.com/office/drawing/2014/main" id="{2073A1E5-D166-5AF5-7B0D-2976F79C1172}"/>
                    </a:ext>
                  </a:extLst>
                </p:cNvPr>
                <p:cNvSpPr/>
                <p:nvPr/>
              </p:nvSpPr>
              <p:spPr>
                <a:xfrm>
                  <a:off x="5103784" y="1465950"/>
                  <a:ext cx="234000" cy="234000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68" name="Conector recto de flecha 67">
                <a:extLst>
                  <a:ext uri="{FF2B5EF4-FFF2-40B4-BE49-F238E27FC236}">
                    <a16:creationId xmlns:a16="http://schemas.microsoft.com/office/drawing/2014/main" id="{F7AA13A0-129F-4F10-67DC-7EC8E2037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0120" y="1367888"/>
                <a:ext cx="104038" cy="202982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Rectángulo 89">
              <a:extLst>
                <a:ext uri="{FF2B5EF4-FFF2-40B4-BE49-F238E27FC236}">
                  <a16:creationId xmlns:a16="http://schemas.microsoft.com/office/drawing/2014/main" id="{69C4EE59-1CFD-6B2F-CC0C-40BAE369F6B9}"/>
                </a:ext>
              </a:extLst>
            </p:cNvPr>
            <p:cNvSpPr/>
            <p:nvPr/>
          </p:nvSpPr>
          <p:spPr>
            <a:xfrm>
              <a:off x="5293279" y="2016852"/>
              <a:ext cx="108000" cy="108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s-ES" sz="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C59C8CBB-ED11-FB75-4DB4-C9287D97FA6D}"/>
              </a:ext>
            </a:extLst>
          </p:cNvPr>
          <p:cNvGrpSpPr/>
          <p:nvPr/>
        </p:nvGrpSpPr>
        <p:grpSpPr>
          <a:xfrm>
            <a:off x="2232481" y="3474326"/>
            <a:ext cx="3168798" cy="1031366"/>
            <a:chOff x="2232481" y="3474326"/>
            <a:chExt cx="3168798" cy="1031366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9E761F00-CB40-AA15-2D6F-9ACFAE9699EA}"/>
                </a:ext>
              </a:extLst>
            </p:cNvPr>
            <p:cNvSpPr/>
            <p:nvPr/>
          </p:nvSpPr>
          <p:spPr>
            <a:xfrm>
              <a:off x="2232481" y="3763138"/>
              <a:ext cx="1027795" cy="507225"/>
            </a:xfrm>
            <a:prstGeom prst="rect">
              <a:avLst/>
            </a:prstGeom>
            <a:solidFill>
              <a:srgbClr val="CCEC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Fine Tuned Local Model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4ABC9D8-3849-4B6D-3BB0-95C7CB345442}"/>
                </a:ext>
              </a:extLst>
            </p:cNvPr>
            <p:cNvSpPr/>
            <p:nvPr/>
          </p:nvSpPr>
          <p:spPr>
            <a:xfrm>
              <a:off x="3809000" y="3788894"/>
              <a:ext cx="601075" cy="45640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noProof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Solved?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87FAA354-8EE5-E91E-D5DE-4389D7D5B16A}"/>
                </a:ext>
              </a:extLst>
            </p:cNvPr>
            <p:cNvCxnSpPr>
              <a:cxnSpLocks/>
              <a:stCxn id="15" idx="3"/>
              <a:endCxn id="19" idx="1"/>
            </p:cNvCxnSpPr>
            <p:nvPr/>
          </p:nvCxnSpPr>
          <p:spPr>
            <a:xfrm>
              <a:off x="3260276" y="4016751"/>
              <a:ext cx="548724" cy="34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1F2C50B3-1B90-00F7-4EE5-1F81175A90A4}"/>
                </a:ext>
              </a:extLst>
            </p:cNvPr>
            <p:cNvGrpSpPr/>
            <p:nvPr/>
          </p:nvGrpSpPr>
          <p:grpSpPr>
            <a:xfrm>
              <a:off x="4413986" y="3474326"/>
              <a:ext cx="912520" cy="1031366"/>
              <a:chOff x="4410075" y="822775"/>
              <a:chExt cx="912520" cy="1031366"/>
            </a:xfrm>
          </p:grpSpPr>
          <p:grpSp>
            <p:nvGrpSpPr>
              <p:cNvPr id="74" name="Grupo 73">
                <a:extLst>
                  <a:ext uri="{FF2B5EF4-FFF2-40B4-BE49-F238E27FC236}">
                    <a16:creationId xmlns:a16="http://schemas.microsoft.com/office/drawing/2014/main" id="{B00CD948-54DC-97DE-76D3-44D4F28D0958}"/>
                  </a:ext>
                </a:extLst>
              </p:cNvPr>
              <p:cNvGrpSpPr/>
              <p:nvPr/>
            </p:nvGrpSpPr>
            <p:grpSpPr>
              <a:xfrm>
                <a:off x="4829174" y="822775"/>
                <a:ext cx="448437" cy="456402"/>
                <a:chOff x="4869179" y="933265"/>
                <a:chExt cx="448437" cy="456402"/>
              </a:xfrm>
            </p:grpSpPr>
            <p:sp>
              <p:nvSpPr>
                <p:cNvPr id="81" name="Elipse 80">
                  <a:extLst>
                    <a:ext uri="{FF2B5EF4-FFF2-40B4-BE49-F238E27FC236}">
                      <a16:creationId xmlns:a16="http://schemas.microsoft.com/office/drawing/2014/main" id="{D1516FAD-9740-9CE9-AB1E-CF7BE5D593B6}"/>
                    </a:ext>
                  </a:extLst>
                </p:cNvPr>
                <p:cNvSpPr/>
                <p:nvPr/>
              </p:nvSpPr>
              <p:spPr>
                <a:xfrm>
                  <a:off x="4926012" y="1028464"/>
                  <a:ext cx="270000" cy="270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200" dirty="0"/>
                </a:p>
              </p:txBody>
            </p:sp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A843CBF3-39AE-679C-6357-E9499D00BCE6}"/>
                    </a:ext>
                  </a:extLst>
                </p:cNvPr>
                <p:cNvSpPr/>
                <p:nvPr/>
              </p:nvSpPr>
              <p:spPr>
                <a:xfrm>
                  <a:off x="4869179" y="933265"/>
                  <a:ext cx="448437" cy="45640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ES" sz="900" noProof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Yes</a:t>
                  </a:r>
                </a:p>
              </p:txBody>
            </p:sp>
          </p:grpSp>
          <p:cxnSp>
            <p:nvCxnSpPr>
              <p:cNvPr id="75" name="Conector recto de flecha 74">
                <a:extLst>
                  <a:ext uri="{FF2B5EF4-FFF2-40B4-BE49-F238E27FC236}">
                    <a16:creationId xmlns:a16="http://schemas.microsoft.com/office/drawing/2014/main" id="{1142F45D-9CA5-BFC3-CDF5-C93F08A41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075" y="1371873"/>
                <a:ext cx="359735" cy="0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cto de flecha 75">
                <a:extLst>
                  <a:ext uri="{FF2B5EF4-FFF2-40B4-BE49-F238E27FC236}">
                    <a16:creationId xmlns:a16="http://schemas.microsoft.com/office/drawing/2014/main" id="{C7185A6A-F6A5-2B26-C9EE-373B3AAAD8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0120" y="1168772"/>
                <a:ext cx="104038" cy="202982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CB60D69D-F9DD-9EEE-61C2-C7AD40307AAC}"/>
                  </a:ext>
                </a:extLst>
              </p:cNvPr>
              <p:cNvGrpSpPr/>
              <p:nvPr/>
            </p:nvGrpSpPr>
            <p:grpSpPr>
              <a:xfrm>
                <a:off x="4874158" y="1397739"/>
                <a:ext cx="448437" cy="456402"/>
                <a:chOff x="5057202" y="1352763"/>
                <a:chExt cx="448437" cy="456402"/>
              </a:xfrm>
            </p:grpSpPr>
            <p:sp>
              <p:nvSpPr>
                <p:cNvPr id="79" name="Rectángulo 78">
                  <a:extLst>
                    <a:ext uri="{FF2B5EF4-FFF2-40B4-BE49-F238E27FC236}">
                      <a16:creationId xmlns:a16="http://schemas.microsoft.com/office/drawing/2014/main" id="{1304928C-7F03-AA08-8AF3-3DFCB522452C}"/>
                    </a:ext>
                  </a:extLst>
                </p:cNvPr>
                <p:cNvSpPr/>
                <p:nvPr/>
              </p:nvSpPr>
              <p:spPr>
                <a:xfrm>
                  <a:off x="5057202" y="1352763"/>
                  <a:ext cx="448437" cy="45640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ES" sz="900" noProof="1">
                      <a:solidFill>
                        <a:srgbClr val="7030A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</a:t>
                  </a:r>
                </a:p>
              </p:txBody>
            </p:sp>
            <p:sp>
              <p:nvSpPr>
                <p:cNvPr id="80" name="Rectángulo 79">
                  <a:extLst>
                    <a:ext uri="{FF2B5EF4-FFF2-40B4-BE49-F238E27FC236}">
                      <a16:creationId xmlns:a16="http://schemas.microsoft.com/office/drawing/2014/main" id="{C3CBC0E0-FD5A-1114-92A0-D11F524BDD51}"/>
                    </a:ext>
                  </a:extLst>
                </p:cNvPr>
                <p:cNvSpPr/>
                <p:nvPr/>
              </p:nvSpPr>
              <p:spPr>
                <a:xfrm>
                  <a:off x="5103784" y="1465950"/>
                  <a:ext cx="234000" cy="234000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78" name="Conector recto de flecha 77">
                <a:extLst>
                  <a:ext uri="{FF2B5EF4-FFF2-40B4-BE49-F238E27FC236}">
                    <a16:creationId xmlns:a16="http://schemas.microsoft.com/office/drawing/2014/main" id="{1AAF685B-F4B3-AD70-7E66-DF1F47E199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0120" y="1367888"/>
                <a:ext cx="104038" cy="202982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320C2E4E-C0D2-176E-FF3D-4765F503C216}"/>
                </a:ext>
              </a:extLst>
            </p:cNvPr>
            <p:cNvSpPr/>
            <p:nvPr/>
          </p:nvSpPr>
          <p:spPr>
            <a:xfrm>
              <a:off x="5293279" y="3512080"/>
              <a:ext cx="108000" cy="108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s-ES" sz="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3390219A-7C04-1831-1250-55A93AA464C1}"/>
              </a:ext>
            </a:extLst>
          </p:cNvPr>
          <p:cNvGrpSpPr/>
          <p:nvPr/>
        </p:nvGrpSpPr>
        <p:grpSpPr>
          <a:xfrm>
            <a:off x="2746379" y="1504896"/>
            <a:ext cx="2295272" cy="815788"/>
            <a:chOff x="2746379" y="1504896"/>
            <a:chExt cx="2295272" cy="815788"/>
          </a:xfrm>
        </p:grpSpPr>
        <p:cxnSp>
          <p:nvCxnSpPr>
            <p:cNvPr id="95" name="Conector recto de flecha 94">
              <a:extLst>
                <a:ext uri="{FF2B5EF4-FFF2-40B4-BE49-F238E27FC236}">
                  <a16:creationId xmlns:a16="http://schemas.microsoft.com/office/drawing/2014/main" id="{0DCFD968-8B6E-9E49-96D5-34F49C35345E}"/>
                </a:ext>
              </a:extLst>
            </p:cNvPr>
            <p:cNvCxnSpPr>
              <a:cxnSpLocks/>
              <a:stCxn id="53" idx="2"/>
            </p:cNvCxnSpPr>
            <p:nvPr/>
          </p:nvCxnSpPr>
          <p:spPr>
            <a:xfrm>
              <a:off x="5041651" y="1504896"/>
              <a:ext cx="0" cy="22865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de flecha 103">
              <a:extLst>
                <a:ext uri="{FF2B5EF4-FFF2-40B4-BE49-F238E27FC236}">
                  <a16:creationId xmlns:a16="http://schemas.microsoft.com/office/drawing/2014/main" id="{D94B0429-5971-DD4D-A0BA-F3991C99EF0E}"/>
                </a:ext>
              </a:extLst>
            </p:cNvPr>
            <p:cNvCxnSpPr>
              <a:cxnSpLocks/>
            </p:cNvCxnSpPr>
            <p:nvPr/>
          </p:nvCxnSpPr>
          <p:spPr>
            <a:xfrm>
              <a:off x="2746379" y="1733550"/>
              <a:ext cx="2295272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de flecha 105">
              <a:extLst>
                <a:ext uri="{FF2B5EF4-FFF2-40B4-BE49-F238E27FC236}">
                  <a16:creationId xmlns:a16="http://schemas.microsoft.com/office/drawing/2014/main" id="{9BD801C9-C665-458E-3D21-676398FD570B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2746379" y="1733550"/>
              <a:ext cx="0" cy="58713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upo 148">
            <a:extLst>
              <a:ext uri="{FF2B5EF4-FFF2-40B4-BE49-F238E27FC236}">
                <a16:creationId xmlns:a16="http://schemas.microsoft.com/office/drawing/2014/main" id="{E8046D87-4036-BF09-4D3F-A4D35AF59A47}"/>
              </a:ext>
            </a:extLst>
          </p:cNvPr>
          <p:cNvGrpSpPr/>
          <p:nvPr/>
        </p:nvGrpSpPr>
        <p:grpSpPr>
          <a:xfrm>
            <a:off x="2746378" y="2947121"/>
            <a:ext cx="2295272" cy="815788"/>
            <a:chOff x="2746379" y="1504896"/>
            <a:chExt cx="2295272" cy="815788"/>
          </a:xfrm>
        </p:grpSpPr>
        <p:cxnSp>
          <p:nvCxnSpPr>
            <p:cNvPr id="150" name="Conector recto de flecha 149">
              <a:extLst>
                <a:ext uri="{FF2B5EF4-FFF2-40B4-BE49-F238E27FC236}">
                  <a16:creationId xmlns:a16="http://schemas.microsoft.com/office/drawing/2014/main" id="{B6805AC1-EE35-A359-635E-F109112AC784}"/>
                </a:ext>
              </a:extLst>
            </p:cNvPr>
            <p:cNvCxnSpPr>
              <a:cxnSpLocks/>
            </p:cNvCxnSpPr>
            <p:nvPr/>
          </p:nvCxnSpPr>
          <p:spPr>
            <a:xfrm>
              <a:off x="5041651" y="1504896"/>
              <a:ext cx="0" cy="22865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recto de flecha 150">
              <a:extLst>
                <a:ext uri="{FF2B5EF4-FFF2-40B4-BE49-F238E27FC236}">
                  <a16:creationId xmlns:a16="http://schemas.microsoft.com/office/drawing/2014/main" id="{C36D42FE-403B-28CD-730E-8F6D5B9E8C80}"/>
                </a:ext>
              </a:extLst>
            </p:cNvPr>
            <p:cNvCxnSpPr>
              <a:cxnSpLocks/>
            </p:cNvCxnSpPr>
            <p:nvPr/>
          </p:nvCxnSpPr>
          <p:spPr>
            <a:xfrm>
              <a:off x="2746379" y="1733550"/>
              <a:ext cx="2295272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recto de flecha 151">
              <a:extLst>
                <a:ext uri="{FF2B5EF4-FFF2-40B4-BE49-F238E27FC236}">
                  <a16:creationId xmlns:a16="http://schemas.microsoft.com/office/drawing/2014/main" id="{2610088A-CB24-F999-02E0-22BB8CFCEA88}"/>
                </a:ext>
              </a:extLst>
            </p:cNvPr>
            <p:cNvCxnSpPr>
              <a:cxnSpLocks/>
            </p:cNvCxnSpPr>
            <p:nvPr/>
          </p:nvCxnSpPr>
          <p:spPr>
            <a:xfrm>
              <a:off x="2746379" y="1733550"/>
              <a:ext cx="0" cy="58713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F5B4A636-A15B-BED8-258F-B57C145CEC3D}"/>
              </a:ext>
            </a:extLst>
          </p:cNvPr>
          <p:cNvGrpSpPr/>
          <p:nvPr/>
        </p:nvGrpSpPr>
        <p:grpSpPr>
          <a:xfrm>
            <a:off x="7318937" y="1121822"/>
            <a:ext cx="1409772" cy="203716"/>
            <a:chOff x="7318937" y="2915062"/>
            <a:chExt cx="1409772" cy="203716"/>
          </a:xfrm>
        </p:grpSpPr>
        <p:sp>
          <p:nvSpPr>
            <p:cNvPr id="158" name="Rectángulo 157">
              <a:extLst>
                <a:ext uri="{FF2B5EF4-FFF2-40B4-BE49-F238E27FC236}">
                  <a16:creationId xmlns:a16="http://schemas.microsoft.com/office/drawing/2014/main" id="{2EB24AA3-9073-12E2-FB44-84DA225E1C9C}"/>
                </a:ext>
              </a:extLst>
            </p:cNvPr>
            <p:cNvSpPr/>
            <p:nvPr/>
          </p:nvSpPr>
          <p:spPr>
            <a:xfrm>
              <a:off x="7428460" y="2915062"/>
              <a:ext cx="1300249" cy="2037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700" b="1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yes: </a:t>
              </a:r>
              <a:r>
                <a:rPr lang="es-ES" sz="700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point to pros a cons.</a:t>
              </a:r>
            </a:p>
          </p:txBody>
        </p:sp>
        <p:sp>
          <p:nvSpPr>
            <p:cNvPr id="159" name="Rectángulo 158">
              <a:extLst>
                <a:ext uri="{FF2B5EF4-FFF2-40B4-BE49-F238E27FC236}">
                  <a16:creationId xmlns:a16="http://schemas.microsoft.com/office/drawing/2014/main" id="{E6415C6B-141F-7B7B-BDB9-D1075A5580F8}"/>
                </a:ext>
              </a:extLst>
            </p:cNvPr>
            <p:cNvSpPr/>
            <p:nvPr/>
          </p:nvSpPr>
          <p:spPr>
            <a:xfrm>
              <a:off x="7318937" y="2963216"/>
              <a:ext cx="108000" cy="108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s-ES" sz="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8AA969FD-8818-CF43-62D3-E9E008DC0CE1}"/>
              </a:ext>
            </a:extLst>
          </p:cNvPr>
          <p:cNvGrpSpPr/>
          <p:nvPr/>
        </p:nvGrpSpPr>
        <p:grpSpPr>
          <a:xfrm>
            <a:off x="7318937" y="1440162"/>
            <a:ext cx="1263022" cy="203716"/>
            <a:chOff x="7318937" y="3144502"/>
            <a:chExt cx="1263022" cy="203716"/>
          </a:xfrm>
        </p:grpSpPr>
        <p:sp>
          <p:nvSpPr>
            <p:cNvPr id="161" name="Rectángulo 160">
              <a:extLst>
                <a:ext uri="{FF2B5EF4-FFF2-40B4-BE49-F238E27FC236}">
                  <a16:creationId xmlns:a16="http://schemas.microsoft.com/office/drawing/2014/main" id="{0156AFE4-3C30-0B6C-7316-1AC54AFFEC89}"/>
                </a:ext>
              </a:extLst>
            </p:cNvPr>
            <p:cNvSpPr/>
            <p:nvPr/>
          </p:nvSpPr>
          <p:spPr>
            <a:xfrm>
              <a:off x="7428460" y="3144502"/>
              <a:ext cx="1153499" cy="2037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700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block might be dispensable</a:t>
              </a:r>
            </a:p>
          </p:txBody>
        </p:sp>
        <p:sp>
          <p:nvSpPr>
            <p:cNvPr id="162" name="Rectángulo 161">
              <a:extLst>
                <a:ext uri="{FF2B5EF4-FFF2-40B4-BE49-F238E27FC236}">
                  <a16:creationId xmlns:a16="http://schemas.microsoft.com/office/drawing/2014/main" id="{6B0FB092-9787-0A83-2D92-EBEB437728BD}"/>
                </a:ext>
              </a:extLst>
            </p:cNvPr>
            <p:cNvSpPr/>
            <p:nvPr/>
          </p:nvSpPr>
          <p:spPr>
            <a:xfrm>
              <a:off x="7318937" y="3192656"/>
              <a:ext cx="108000" cy="108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s-ES" sz="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0D5E4312-B095-1B1B-9079-CB977AA432AA}"/>
              </a:ext>
            </a:extLst>
          </p:cNvPr>
          <p:cNvGrpSpPr/>
          <p:nvPr/>
        </p:nvGrpSpPr>
        <p:grpSpPr>
          <a:xfrm>
            <a:off x="7318937" y="1758501"/>
            <a:ext cx="1355671" cy="203716"/>
            <a:chOff x="7318937" y="3373941"/>
            <a:chExt cx="1355671" cy="203716"/>
          </a:xfrm>
        </p:grpSpPr>
        <p:sp>
          <p:nvSpPr>
            <p:cNvPr id="164" name="Rectángulo 163">
              <a:extLst>
                <a:ext uri="{FF2B5EF4-FFF2-40B4-BE49-F238E27FC236}">
                  <a16:creationId xmlns:a16="http://schemas.microsoft.com/office/drawing/2014/main" id="{185FBAA8-6694-64D1-CF41-9556FE998575}"/>
                </a:ext>
              </a:extLst>
            </p:cNvPr>
            <p:cNvSpPr/>
            <p:nvPr/>
          </p:nvSpPr>
          <p:spPr>
            <a:xfrm>
              <a:off x="7428460" y="3373941"/>
              <a:ext cx="1246148" cy="2037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700" b="1" noProof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 are the relevant features in synth data? </a:t>
              </a:r>
              <a:endParaRPr lang="es-ES" sz="700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Rectángulo 164">
              <a:extLst>
                <a:ext uri="{FF2B5EF4-FFF2-40B4-BE49-F238E27FC236}">
                  <a16:creationId xmlns:a16="http://schemas.microsoft.com/office/drawing/2014/main" id="{0AEFE25C-52BC-96BE-B890-41C420DC46C4}"/>
                </a:ext>
              </a:extLst>
            </p:cNvPr>
            <p:cNvSpPr/>
            <p:nvPr/>
          </p:nvSpPr>
          <p:spPr>
            <a:xfrm>
              <a:off x="7318937" y="3422095"/>
              <a:ext cx="108000" cy="108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s-ES" sz="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7EE1CEE1-7ECF-E1FB-37A9-3CB7BE010AEB}"/>
              </a:ext>
            </a:extLst>
          </p:cNvPr>
          <p:cNvSpPr/>
          <p:nvPr/>
        </p:nvSpPr>
        <p:spPr>
          <a:xfrm>
            <a:off x="7379179" y="55289"/>
            <a:ext cx="1153499" cy="4564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129048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2CAC-DB09-BFD5-B909-73303BDB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14DFFDD-9DB9-6EE9-4FD7-CB7A13D2E3D9}"/>
              </a:ext>
            </a:extLst>
          </p:cNvPr>
          <p:cNvSpPr/>
          <p:nvPr/>
        </p:nvSpPr>
        <p:spPr>
          <a:xfrm>
            <a:off x="367044" y="121912"/>
            <a:ext cx="4557607" cy="4564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noProof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Extractive Task on Tables: Workflow Results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82E6A8D-5A97-3932-45A6-7A0F89F77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469446"/>
              </p:ext>
            </p:extLst>
          </p:nvPr>
        </p:nvGraphicFramePr>
        <p:xfrm>
          <a:off x="440242" y="1282774"/>
          <a:ext cx="6364981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9283">
                  <a:extLst>
                    <a:ext uri="{9D8B030D-6E8A-4147-A177-3AD203B41FA5}">
                      <a16:colId xmlns:a16="http://schemas.microsoft.com/office/drawing/2014/main" val="2306468671"/>
                    </a:ext>
                  </a:extLst>
                </a:gridCol>
                <a:gridCol w="909283">
                  <a:extLst>
                    <a:ext uri="{9D8B030D-6E8A-4147-A177-3AD203B41FA5}">
                      <a16:colId xmlns:a16="http://schemas.microsoft.com/office/drawing/2014/main" val="3423488469"/>
                    </a:ext>
                  </a:extLst>
                </a:gridCol>
                <a:gridCol w="909283">
                  <a:extLst>
                    <a:ext uri="{9D8B030D-6E8A-4147-A177-3AD203B41FA5}">
                      <a16:colId xmlns:a16="http://schemas.microsoft.com/office/drawing/2014/main" val="1424599656"/>
                    </a:ext>
                  </a:extLst>
                </a:gridCol>
                <a:gridCol w="909283">
                  <a:extLst>
                    <a:ext uri="{9D8B030D-6E8A-4147-A177-3AD203B41FA5}">
                      <a16:colId xmlns:a16="http://schemas.microsoft.com/office/drawing/2014/main" val="724512868"/>
                    </a:ext>
                  </a:extLst>
                </a:gridCol>
                <a:gridCol w="909283">
                  <a:extLst>
                    <a:ext uri="{9D8B030D-6E8A-4147-A177-3AD203B41FA5}">
                      <a16:colId xmlns:a16="http://schemas.microsoft.com/office/drawing/2014/main" val="2614341867"/>
                    </a:ext>
                  </a:extLst>
                </a:gridCol>
                <a:gridCol w="909283">
                  <a:extLst>
                    <a:ext uri="{9D8B030D-6E8A-4147-A177-3AD203B41FA5}">
                      <a16:colId xmlns:a16="http://schemas.microsoft.com/office/drawing/2014/main" val="4140790765"/>
                    </a:ext>
                  </a:extLst>
                </a:gridCol>
                <a:gridCol w="909283">
                  <a:extLst>
                    <a:ext uri="{9D8B030D-6E8A-4147-A177-3AD203B41FA5}">
                      <a16:colId xmlns:a16="http://schemas.microsoft.com/office/drawing/2014/main" val="3612496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050" b="1" noProof="0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>
                          <a:solidFill>
                            <a:srgbClr val="7030A0"/>
                          </a:solidFill>
                        </a:rPr>
                        <a:t>SaaS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7030A0"/>
                          </a:solidFill>
                        </a:rPr>
                        <a:t>0/Few-shot Local Model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23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50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50" b="1" noProof="0" dirty="0">
                          <a:solidFill>
                            <a:srgbClr val="7030A0"/>
                          </a:solidFill>
                        </a:rPr>
                        <a:t>Fine Tuned Local Model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050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050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30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50" noProof="0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23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 dirty="0">
                          <a:solidFill>
                            <a:srgbClr val="7030A0"/>
                          </a:solidFill>
                        </a:rPr>
                        <a:t>OpenAI gpt4-o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23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0-shot (1)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23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0-shot (2)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Donut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Idefics2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Donut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68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f1 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90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Variable Cost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50" noProof="0" dirty="0"/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63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Data Privacy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19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7030A0"/>
                          </a:solidFill>
                        </a:rPr>
                        <a:t>Custom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0" dirty="0">
                          <a:solidFill>
                            <a:srgbClr val="0070C0"/>
                          </a:solidFill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269672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9034507-B2E2-95F1-538C-0C9C97279299}"/>
              </a:ext>
            </a:extLst>
          </p:cNvPr>
          <p:cNvSpPr/>
          <p:nvPr/>
        </p:nvSpPr>
        <p:spPr>
          <a:xfrm>
            <a:off x="440242" y="4008558"/>
            <a:ext cx="5226055" cy="20371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b="1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table is a support to guide the Introducction of the paper.</a:t>
            </a:r>
            <a:endParaRPr lang="en-US" sz="700" noProof="1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FBAD850-F521-3F4B-AFCB-B1360A7EE320}"/>
              </a:ext>
            </a:extLst>
          </p:cNvPr>
          <p:cNvSpPr/>
          <p:nvPr/>
        </p:nvSpPr>
        <p:spPr>
          <a:xfrm>
            <a:off x="7081607" y="0"/>
            <a:ext cx="1726571" cy="4679950"/>
          </a:xfrm>
          <a:prstGeom prst="rect">
            <a:avLst/>
          </a:prstGeom>
          <a:solidFill>
            <a:srgbClr val="39003D">
              <a:alpha val="5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2F186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86F304-DDA5-002A-CEEF-B3AE718A6339}"/>
              </a:ext>
            </a:extLst>
          </p:cNvPr>
          <p:cNvSpPr/>
          <p:nvPr/>
        </p:nvSpPr>
        <p:spPr>
          <a:xfrm>
            <a:off x="7379179" y="55289"/>
            <a:ext cx="1153499" cy="4564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87AD27-C669-7182-B512-5DD777611C60}"/>
              </a:ext>
            </a:extLst>
          </p:cNvPr>
          <p:cNvSpPr/>
          <p:nvPr/>
        </p:nvSpPr>
        <p:spPr>
          <a:xfrm>
            <a:off x="7347180" y="803482"/>
            <a:ext cx="1300249" cy="39539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700" b="1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Modality: </a:t>
            </a:r>
            <a:r>
              <a:rPr lang="es-ES" sz="700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Non-native digital documents (images), i.e.: no PDF.</a:t>
            </a:r>
          </a:p>
        </p:txBody>
      </p:sp>
    </p:spTree>
    <p:extLst>
      <p:ext uri="{BB962C8B-B14F-4D97-AF65-F5344CB8AC3E}">
        <p14:creationId xmlns:p14="http://schemas.microsoft.com/office/powerpoint/2010/main" val="255476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9AAA-AF27-AFA3-87F4-DFE0332E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511B982F-1A86-B390-23B3-A827D7920B65}"/>
              </a:ext>
            </a:extLst>
          </p:cNvPr>
          <p:cNvSpPr/>
          <p:nvPr/>
        </p:nvSpPr>
        <p:spPr>
          <a:xfrm>
            <a:off x="367044" y="121912"/>
            <a:ext cx="5226055" cy="4564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noProof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Extractive Task on Tables: Introduction Keypoints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AE5087-E297-D6DA-45AC-56E7102C8C52}"/>
              </a:ext>
            </a:extLst>
          </p:cNvPr>
          <p:cNvSpPr txBox="1"/>
          <p:nvPr/>
        </p:nvSpPr>
        <p:spPr>
          <a:xfrm>
            <a:off x="1401247" y="1292782"/>
            <a:ext cx="6017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 from non-native digital documents is still a challenge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99427FB-D245-1C78-3A69-80D2701ED38A}"/>
              </a:ext>
            </a:extLst>
          </p:cNvPr>
          <p:cNvSpPr txBox="1"/>
          <p:nvPr/>
        </p:nvSpPr>
        <p:spPr>
          <a:xfrm>
            <a:off x="1401246" y="1907277"/>
            <a:ext cx="6017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SaaS services limit accessibility to image analysis (OpenAI API assistant, tiers and o1) 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8E9A8E-3B75-8FAA-48DC-13D5D12F30A0}"/>
              </a:ext>
            </a:extLst>
          </p:cNvPr>
          <p:cNvSpPr txBox="1"/>
          <p:nvPr/>
        </p:nvSpPr>
        <p:spPr>
          <a:xfrm>
            <a:off x="1401245" y="2737215"/>
            <a:ext cx="6017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0/Few shot local models show weaknesses (still to explore)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C91E8D6-7A93-A68F-BE0C-05E302263044}"/>
              </a:ext>
            </a:extLst>
          </p:cNvPr>
          <p:cNvSpPr txBox="1"/>
          <p:nvPr/>
        </p:nvSpPr>
        <p:spPr>
          <a:xfrm>
            <a:off x="1401244" y="3351711"/>
            <a:ext cx="6017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 tuning requires data efficiency → Paper motivation</a:t>
            </a:r>
          </a:p>
        </p:txBody>
      </p:sp>
    </p:spTree>
    <p:extLst>
      <p:ext uri="{BB962C8B-B14F-4D97-AF65-F5344CB8AC3E}">
        <p14:creationId xmlns:p14="http://schemas.microsoft.com/office/powerpoint/2010/main" val="269749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5861</TotalTime>
  <Words>207</Words>
  <Application>Microsoft Office PowerPoint</Application>
  <PresentationFormat>Personalizado</PresentationFormat>
  <Paragraphs>62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2013 - Tema de 2022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Ignacio de Rodrigo Tobías</dc:creator>
  <cp:lastModifiedBy>Ignacio de Rodrigo Tobías</cp:lastModifiedBy>
  <cp:revision>56</cp:revision>
  <dcterms:created xsi:type="dcterms:W3CDTF">2023-07-21T00:33:50Z</dcterms:created>
  <dcterms:modified xsi:type="dcterms:W3CDTF">2025-01-09T11:42:27Z</dcterms:modified>
</cp:coreProperties>
</file>