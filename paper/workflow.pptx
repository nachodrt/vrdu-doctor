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65" r:id="rId2"/>
    <p:sldId id="269" r:id="rId3"/>
    <p:sldId id="270" r:id="rId4"/>
  </p:sldIdLst>
  <p:sldSz cx="8820150" cy="46799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74" userDrawn="1">
          <p15:clr>
            <a:srgbClr val="A4A3A4"/>
          </p15:clr>
        </p15:guide>
        <p15:guide id="2" pos="277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CCFF"/>
    <a:srgbClr val="F5F2F5"/>
    <a:srgbClr val="CCECFF"/>
    <a:srgbClr val="02F186"/>
    <a:srgbClr val="C1FFE3"/>
    <a:srgbClr val="018D4E"/>
    <a:srgbClr val="520058"/>
    <a:srgbClr val="39003D"/>
    <a:srgbClr val="F100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115" d="100"/>
          <a:sy n="115" d="100"/>
        </p:scale>
        <p:origin x="662" y="67"/>
      </p:cViewPr>
      <p:guideLst>
        <p:guide orient="horz" pos="1474"/>
        <p:guide pos="277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2519" y="765909"/>
            <a:ext cx="6615113" cy="1629316"/>
          </a:xfrm>
        </p:spPr>
        <p:txBody>
          <a:bodyPr anchor="b"/>
          <a:lstStyle>
            <a:lvl1pPr algn="ctr">
              <a:defRPr sz="4094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2519" y="2458058"/>
            <a:ext cx="6615113" cy="1129904"/>
          </a:xfrm>
        </p:spPr>
        <p:txBody>
          <a:bodyPr/>
          <a:lstStyle>
            <a:lvl1pPr marL="0" indent="0" algn="ctr">
              <a:buNone/>
              <a:defRPr sz="1638"/>
            </a:lvl1pPr>
            <a:lvl2pPr marL="311993" indent="0" algn="ctr">
              <a:buNone/>
              <a:defRPr sz="1365"/>
            </a:lvl2pPr>
            <a:lvl3pPr marL="623987" indent="0" algn="ctr">
              <a:buNone/>
              <a:defRPr sz="1228"/>
            </a:lvl3pPr>
            <a:lvl4pPr marL="935980" indent="0" algn="ctr">
              <a:buNone/>
              <a:defRPr sz="1092"/>
            </a:lvl4pPr>
            <a:lvl5pPr marL="1247973" indent="0" algn="ctr">
              <a:buNone/>
              <a:defRPr sz="1092"/>
            </a:lvl5pPr>
            <a:lvl6pPr marL="1559966" indent="0" algn="ctr">
              <a:buNone/>
              <a:defRPr sz="1092"/>
            </a:lvl6pPr>
            <a:lvl7pPr marL="1871960" indent="0" algn="ctr">
              <a:buNone/>
              <a:defRPr sz="1092"/>
            </a:lvl7pPr>
            <a:lvl8pPr marL="2183953" indent="0" algn="ctr">
              <a:buNone/>
              <a:defRPr sz="1092"/>
            </a:lvl8pPr>
            <a:lvl9pPr marL="2495946" indent="0" algn="ctr">
              <a:buNone/>
              <a:defRPr sz="1092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5F45F-7FF7-4AA6-9E5C-20A469923D65}" type="datetimeFigureOut">
              <a:rPr lang="en-GB" smtClean="0"/>
              <a:t>13/01/2025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B724F-E2F3-4620-A3D2-4C44EF443443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97720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5F45F-7FF7-4AA6-9E5C-20A469923D65}" type="datetimeFigureOut">
              <a:rPr lang="en-GB" smtClean="0"/>
              <a:t>13/01/2025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B724F-E2F3-4620-A3D2-4C44EF443443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75595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792" y="1166738"/>
            <a:ext cx="7607379" cy="1946729"/>
          </a:xfrm>
        </p:spPr>
        <p:txBody>
          <a:bodyPr anchor="b"/>
          <a:lstStyle>
            <a:lvl1pPr>
              <a:defRPr sz="4094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1792" y="3131884"/>
            <a:ext cx="7607379" cy="1023739"/>
          </a:xfrm>
        </p:spPr>
        <p:txBody>
          <a:bodyPr/>
          <a:lstStyle>
            <a:lvl1pPr marL="0" indent="0">
              <a:buNone/>
              <a:defRPr sz="1638">
                <a:solidFill>
                  <a:schemeClr val="tx1">
                    <a:tint val="75000"/>
                  </a:schemeClr>
                </a:solidFill>
              </a:defRPr>
            </a:lvl1pPr>
            <a:lvl2pPr marL="311993" indent="0">
              <a:buNone/>
              <a:defRPr sz="1365">
                <a:solidFill>
                  <a:schemeClr val="tx1">
                    <a:tint val="75000"/>
                  </a:schemeClr>
                </a:solidFill>
              </a:defRPr>
            </a:lvl2pPr>
            <a:lvl3pPr marL="623987" indent="0">
              <a:buNone/>
              <a:defRPr sz="1228">
                <a:solidFill>
                  <a:schemeClr val="tx1">
                    <a:tint val="75000"/>
                  </a:schemeClr>
                </a:solidFill>
              </a:defRPr>
            </a:lvl3pPr>
            <a:lvl4pPr marL="935980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4pPr>
            <a:lvl5pPr marL="1247973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5pPr>
            <a:lvl6pPr marL="1559966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6pPr>
            <a:lvl7pPr marL="1871960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7pPr>
            <a:lvl8pPr marL="2183953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8pPr>
            <a:lvl9pPr marL="2495946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5F45F-7FF7-4AA6-9E5C-20A469923D65}" type="datetimeFigureOut">
              <a:rPr lang="en-GB" smtClean="0"/>
              <a:t>13/01/2025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B724F-E2F3-4620-A3D2-4C44EF443443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350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6385" y="1245820"/>
            <a:ext cx="3748564" cy="2969385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65201" y="1245820"/>
            <a:ext cx="3748564" cy="2969385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5F45F-7FF7-4AA6-9E5C-20A469923D65}" type="datetimeFigureOut">
              <a:rPr lang="en-GB" smtClean="0"/>
              <a:t>13/01/2025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B724F-E2F3-4620-A3D2-4C44EF443443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8575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7534" y="249164"/>
            <a:ext cx="7607379" cy="904574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7534" y="1147238"/>
            <a:ext cx="3731337" cy="562244"/>
          </a:xfrm>
        </p:spPr>
        <p:txBody>
          <a:bodyPr anchor="b"/>
          <a:lstStyle>
            <a:lvl1pPr marL="0" indent="0">
              <a:buNone/>
              <a:defRPr sz="1638" b="1"/>
            </a:lvl1pPr>
            <a:lvl2pPr marL="311993" indent="0">
              <a:buNone/>
              <a:defRPr sz="1365" b="1"/>
            </a:lvl2pPr>
            <a:lvl3pPr marL="623987" indent="0">
              <a:buNone/>
              <a:defRPr sz="1228" b="1"/>
            </a:lvl3pPr>
            <a:lvl4pPr marL="935980" indent="0">
              <a:buNone/>
              <a:defRPr sz="1092" b="1"/>
            </a:lvl4pPr>
            <a:lvl5pPr marL="1247973" indent="0">
              <a:buNone/>
              <a:defRPr sz="1092" b="1"/>
            </a:lvl5pPr>
            <a:lvl6pPr marL="1559966" indent="0">
              <a:buNone/>
              <a:defRPr sz="1092" b="1"/>
            </a:lvl6pPr>
            <a:lvl7pPr marL="1871960" indent="0">
              <a:buNone/>
              <a:defRPr sz="1092" b="1"/>
            </a:lvl7pPr>
            <a:lvl8pPr marL="2183953" indent="0">
              <a:buNone/>
              <a:defRPr sz="1092" b="1"/>
            </a:lvl8pPr>
            <a:lvl9pPr marL="2495946" indent="0">
              <a:buNone/>
              <a:defRPr sz="1092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7534" y="1709482"/>
            <a:ext cx="3731337" cy="251439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65201" y="1147238"/>
            <a:ext cx="3749713" cy="562244"/>
          </a:xfrm>
        </p:spPr>
        <p:txBody>
          <a:bodyPr anchor="b"/>
          <a:lstStyle>
            <a:lvl1pPr marL="0" indent="0">
              <a:buNone/>
              <a:defRPr sz="1638" b="1"/>
            </a:lvl1pPr>
            <a:lvl2pPr marL="311993" indent="0">
              <a:buNone/>
              <a:defRPr sz="1365" b="1"/>
            </a:lvl2pPr>
            <a:lvl3pPr marL="623987" indent="0">
              <a:buNone/>
              <a:defRPr sz="1228" b="1"/>
            </a:lvl3pPr>
            <a:lvl4pPr marL="935980" indent="0">
              <a:buNone/>
              <a:defRPr sz="1092" b="1"/>
            </a:lvl4pPr>
            <a:lvl5pPr marL="1247973" indent="0">
              <a:buNone/>
              <a:defRPr sz="1092" b="1"/>
            </a:lvl5pPr>
            <a:lvl6pPr marL="1559966" indent="0">
              <a:buNone/>
              <a:defRPr sz="1092" b="1"/>
            </a:lvl6pPr>
            <a:lvl7pPr marL="1871960" indent="0">
              <a:buNone/>
              <a:defRPr sz="1092" b="1"/>
            </a:lvl7pPr>
            <a:lvl8pPr marL="2183953" indent="0">
              <a:buNone/>
              <a:defRPr sz="1092" b="1"/>
            </a:lvl8pPr>
            <a:lvl9pPr marL="2495946" indent="0">
              <a:buNone/>
              <a:defRPr sz="1092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65201" y="1709482"/>
            <a:ext cx="3749713" cy="251439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5F45F-7FF7-4AA6-9E5C-20A469923D65}" type="datetimeFigureOut">
              <a:rPr lang="en-GB" smtClean="0"/>
              <a:t>13/01/2025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B724F-E2F3-4620-A3D2-4C44EF443443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31512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5F45F-7FF7-4AA6-9E5C-20A469923D65}" type="datetimeFigureOut">
              <a:rPr lang="en-GB" smtClean="0"/>
              <a:t>13/01/2025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B724F-E2F3-4620-A3D2-4C44EF443443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20129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5F45F-7FF7-4AA6-9E5C-20A469923D65}" type="datetimeFigureOut">
              <a:rPr lang="en-GB" smtClean="0"/>
              <a:t>13/01/2025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B724F-E2F3-4620-A3D2-4C44EF443443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79244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7534" y="311997"/>
            <a:ext cx="2844728" cy="1091988"/>
          </a:xfrm>
        </p:spPr>
        <p:txBody>
          <a:bodyPr anchor="b"/>
          <a:lstStyle>
            <a:lvl1pPr>
              <a:defRPr sz="2184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49713" y="673826"/>
            <a:ext cx="4465201" cy="3325798"/>
          </a:xfrm>
        </p:spPr>
        <p:txBody>
          <a:bodyPr/>
          <a:lstStyle>
            <a:lvl1pPr>
              <a:defRPr sz="2184"/>
            </a:lvl1pPr>
            <a:lvl2pPr>
              <a:defRPr sz="1911"/>
            </a:lvl2pPr>
            <a:lvl3pPr>
              <a:defRPr sz="1638"/>
            </a:lvl3pPr>
            <a:lvl4pPr>
              <a:defRPr sz="1365"/>
            </a:lvl4pPr>
            <a:lvl5pPr>
              <a:defRPr sz="1365"/>
            </a:lvl5pPr>
            <a:lvl6pPr>
              <a:defRPr sz="1365"/>
            </a:lvl6pPr>
            <a:lvl7pPr>
              <a:defRPr sz="1365"/>
            </a:lvl7pPr>
            <a:lvl8pPr>
              <a:defRPr sz="1365"/>
            </a:lvl8pPr>
            <a:lvl9pPr>
              <a:defRPr sz="1365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7534" y="1403985"/>
            <a:ext cx="2844728" cy="2601056"/>
          </a:xfrm>
        </p:spPr>
        <p:txBody>
          <a:bodyPr/>
          <a:lstStyle>
            <a:lvl1pPr marL="0" indent="0">
              <a:buNone/>
              <a:defRPr sz="1092"/>
            </a:lvl1pPr>
            <a:lvl2pPr marL="311993" indent="0">
              <a:buNone/>
              <a:defRPr sz="955"/>
            </a:lvl2pPr>
            <a:lvl3pPr marL="623987" indent="0">
              <a:buNone/>
              <a:defRPr sz="819"/>
            </a:lvl3pPr>
            <a:lvl4pPr marL="935980" indent="0">
              <a:buNone/>
              <a:defRPr sz="682"/>
            </a:lvl4pPr>
            <a:lvl5pPr marL="1247973" indent="0">
              <a:buNone/>
              <a:defRPr sz="682"/>
            </a:lvl5pPr>
            <a:lvl6pPr marL="1559966" indent="0">
              <a:buNone/>
              <a:defRPr sz="682"/>
            </a:lvl6pPr>
            <a:lvl7pPr marL="1871960" indent="0">
              <a:buNone/>
              <a:defRPr sz="682"/>
            </a:lvl7pPr>
            <a:lvl8pPr marL="2183953" indent="0">
              <a:buNone/>
              <a:defRPr sz="682"/>
            </a:lvl8pPr>
            <a:lvl9pPr marL="2495946" indent="0">
              <a:buNone/>
              <a:defRPr sz="682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5F45F-7FF7-4AA6-9E5C-20A469923D65}" type="datetimeFigureOut">
              <a:rPr lang="en-GB" smtClean="0"/>
              <a:t>13/01/2025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B724F-E2F3-4620-A3D2-4C44EF443443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0000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7534" y="311997"/>
            <a:ext cx="2844728" cy="1091988"/>
          </a:xfrm>
        </p:spPr>
        <p:txBody>
          <a:bodyPr anchor="b"/>
          <a:lstStyle>
            <a:lvl1pPr>
              <a:defRPr sz="2184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49713" y="673826"/>
            <a:ext cx="4465201" cy="3325798"/>
          </a:xfrm>
        </p:spPr>
        <p:txBody>
          <a:bodyPr anchor="t"/>
          <a:lstStyle>
            <a:lvl1pPr marL="0" indent="0">
              <a:buNone/>
              <a:defRPr sz="2184"/>
            </a:lvl1pPr>
            <a:lvl2pPr marL="311993" indent="0">
              <a:buNone/>
              <a:defRPr sz="1911"/>
            </a:lvl2pPr>
            <a:lvl3pPr marL="623987" indent="0">
              <a:buNone/>
              <a:defRPr sz="1638"/>
            </a:lvl3pPr>
            <a:lvl4pPr marL="935980" indent="0">
              <a:buNone/>
              <a:defRPr sz="1365"/>
            </a:lvl4pPr>
            <a:lvl5pPr marL="1247973" indent="0">
              <a:buNone/>
              <a:defRPr sz="1365"/>
            </a:lvl5pPr>
            <a:lvl6pPr marL="1559966" indent="0">
              <a:buNone/>
              <a:defRPr sz="1365"/>
            </a:lvl6pPr>
            <a:lvl7pPr marL="1871960" indent="0">
              <a:buNone/>
              <a:defRPr sz="1365"/>
            </a:lvl7pPr>
            <a:lvl8pPr marL="2183953" indent="0">
              <a:buNone/>
              <a:defRPr sz="1365"/>
            </a:lvl8pPr>
            <a:lvl9pPr marL="2495946" indent="0">
              <a:buNone/>
              <a:defRPr sz="1365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7534" y="1403985"/>
            <a:ext cx="2844728" cy="2601056"/>
          </a:xfrm>
        </p:spPr>
        <p:txBody>
          <a:bodyPr/>
          <a:lstStyle>
            <a:lvl1pPr marL="0" indent="0">
              <a:buNone/>
              <a:defRPr sz="1092"/>
            </a:lvl1pPr>
            <a:lvl2pPr marL="311993" indent="0">
              <a:buNone/>
              <a:defRPr sz="955"/>
            </a:lvl2pPr>
            <a:lvl3pPr marL="623987" indent="0">
              <a:buNone/>
              <a:defRPr sz="819"/>
            </a:lvl3pPr>
            <a:lvl4pPr marL="935980" indent="0">
              <a:buNone/>
              <a:defRPr sz="682"/>
            </a:lvl4pPr>
            <a:lvl5pPr marL="1247973" indent="0">
              <a:buNone/>
              <a:defRPr sz="682"/>
            </a:lvl5pPr>
            <a:lvl6pPr marL="1559966" indent="0">
              <a:buNone/>
              <a:defRPr sz="682"/>
            </a:lvl6pPr>
            <a:lvl7pPr marL="1871960" indent="0">
              <a:buNone/>
              <a:defRPr sz="682"/>
            </a:lvl7pPr>
            <a:lvl8pPr marL="2183953" indent="0">
              <a:buNone/>
              <a:defRPr sz="682"/>
            </a:lvl8pPr>
            <a:lvl9pPr marL="2495946" indent="0">
              <a:buNone/>
              <a:defRPr sz="682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5F45F-7FF7-4AA6-9E5C-20A469923D65}" type="datetimeFigureOut">
              <a:rPr lang="en-GB" smtClean="0"/>
              <a:t>13/01/2025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B724F-E2F3-4620-A3D2-4C44EF443443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76638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5F45F-7FF7-4AA6-9E5C-20A469923D65}" type="datetimeFigureOut">
              <a:rPr lang="en-GB" smtClean="0"/>
              <a:t>13/01/2025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B724F-E2F3-4620-A3D2-4C44EF443443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78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11920" y="249164"/>
            <a:ext cx="1901845" cy="3966041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6385" y="249164"/>
            <a:ext cx="5595283" cy="3966041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5F45F-7FF7-4AA6-9E5C-20A469923D65}" type="datetimeFigureOut">
              <a:rPr lang="en-GB" smtClean="0"/>
              <a:t>13/01/2025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B724F-E2F3-4620-A3D2-4C44EF443443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43801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6386" y="249164"/>
            <a:ext cx="7607379" cy="9045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6386" y="1245820"/>
            <a:ext cx="7607379" cy="29693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6385" y="4337621"/>
            <a:ext cx="1984534" cy="249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1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C5F45F-7FF7-4AA6-9E5C-20A469923D65}" type="datetimeFigureOut">
              <a:rPr lang="en-GB" smtClean="0"/>
              <a:t>13/01/2025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21675" y="4337621"/>
            <a:ext cx="2976801" cy="249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1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29231" y="4337621"/>
            <a:ext cx="1984534" cy="249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B724F-E2F3-4620-A3D2-4C44EF443443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9634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623987" rtl="0" eaLnBrk="1" latinLnBrk="0" hangingPunct="1">
        <a:lnSpc>
          <a:spcPct val="90000"/>
        </a:lnSpc>
        <a:spcBef>
          <a:spcPct val="0"/>
        </a:spcBef>
        <a:buNone/>
        <a:defRPr sz="30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5997" indent="-155997" algn="l" defTabSz="623987" rtl="0" eaLnBrk="1" latinLnBrk="0" hangingPunct="1">
        <a:lnSpc>
          <a:spcPct val="90000"/>
        </a:lnSpc>
        <a:spcBef>
          <a:spcPts val="682"/>
        </a:spcBef>
        <a:buFont typeface="Arial" panose="020B0604020202020204" pitchFamily="34" charset="0"/>
        <a:buChar char="•"/>
        <a:defRPr sz="1911" kern="1200">
          <a:solidFill>
            <a:schemeClr val="tx1"/>
          </a:solidFill>
          <a:latin typeface="+mn-lt"/>
          <a:ea typeface="+mn-ea"/>
          <a:cs typeface="+mn-cs"/>
        </a:defRPr>
      </a:lvl1pPr>
      <a:lvl2pPr marL="467990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638" kern="1200">
          <a:solidFill>
            <a:schemeClr val="tx1"/>
          </a:solidFill>
          <a:latin typeface="+mn-lt"/>
          <a:ea typeface="+mn-ea"/>
          <a:cs typeface="+mn-cs"/>
        </a:defRPr>
      </a:lvl2pPr>
      <a:lvl3pPr marL="779983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365" kern="1200">
          <a:solidFill>
            <a:schemeClr val="tx1"/>
          </a:solidFill>
          <a:latin typeface="+mn-lt"/>
          <a:ea typeface="+mn-ea"/>
          <a:cs typeface="+mn-cs"/>
        </a:defRPr>
      </a:lvl3pPr>
      <a:lvl4pPr marL="1091976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4pPr>
      <a:lvl5pPr marL="1403970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5pPr>
      <a:lvl6pPr marL="1715963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6pPr>
      <a:lvl7pPr marL="2027956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7pPr>
      <a:lvl8pPr marL="2339950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8pPr>
      <a:lvl9pPr marL="2651943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1pPr>
      <a:lvl2pPr marL="311993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2pPr>
      <a:lvl3pPr marL="623987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3pPr>
      <a:lvl4pPr marL="935980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4pPr>
      <a:lvl5pPr marL="1247973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5pPr>
      <a:lvl6pPr marL="1559966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6pPr>
      <a:lvl7pPr marL="1871960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7pPr>
      <a:lvl8pPr marL="2183953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8pPr>
      <a:lvl9pPr marL="2495946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E9DA2-98BF-9E82-B89F-DF9A10569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Rectángulo 165">
            <a:extLst>
              <a:ext uri="{FF2B5EF4-FFF2-40B4-BE49-F238E27FC236}">
                <a16:creationId xmlns:a16="http://schemas.microsoft.com/office/drawing/2014/main" id="{95309932-D5EC-019E-FB8D-68387AC6B8B9}"/>
              </a:ext>
            </a:extLst>
          </p:cNvPr>
          <p:cNvSpPr/>
          <p:nvPr/>
        </p:nvSpPr>
        <p:spPr>
          <a:xfrm>
            <a:off x="7081607" y="0"/>
            <a:ext cx="1726571" cy="4679950"/>
          </a:xfrm>
          <a:prstGeom prst="rect">
            <a:avLst/>
          </a:prstGeom>
          <a:solidFill>
            <a:srgbClr val="39003D">
              <a:alpha val="5000"/>
            </a:srgbClr>
          </a:solidFill>
          <a:ln w="1270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02F186"/>
              </a:solidFill>
            </a:endParaRP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7C7CC223-68C5-E26F-4899-F08D35BFAC8D}"/>
              </a:ext>
            </a:extLst>
          </p:cNvPr>
          <p:cNvSpPr/>
          <p:nvPr/>
        </p:nvSpPr>
        <p:spPr>
          <a:xfrm>
            <a:off x="367044" y="121912"/>
            <a:ext cx="3976355" cy="45640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1600" b="1" noProof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Extractive Task on Tables: Workflow</a:t>
            </a:r>
          </a:p>
        </p:txBody>
      </p:sp>
      <p:grpSp>
        <p:nvGrpSpPr>
          <p:cNvPr id="92" name="Grupo 91">
            <a:extLst>
              <a:ext uri="{FF2B5EF4-FFF2-40B4-BE49-F238E27FC236}">
                <a16:creationId xmlns:a16="http://schemas.microsoft.com/office/drawing/2014/main" id="{374C9BC2-F361-ECB1-2C28-F83279167D63}"/>
              </a:ext>
            </a:extLst>
          </p:cNvPr>
          <p:cNvGrpSpPr/>
          <p:nvPr/>
        </p:nvGrpSpPr>
        <p:grpSpPr>
          <a:xfrm>
            <a:off x="763160" y="582745"/>
            <a:ext cx="4563346" cy="1031366"/>
            <a:chOff x="763160" y="582745"/>
            <a:chExt cx="4563346" cy="1031366"/>
          </a:xfrm>
        </p:grpSpPr>
        <p:sp>
          <p:nvSpPr>
            <p:cNvPr id="12" name="Rectángulo 11">
              <a:extLst>
                <a:ext uri="{FF2B5EF4-FFF2-40B4-BE49-F238E27FC236}">
                  <a16:creationId xmlns:a16="http://schemas.microsoft.com/office/drawing/2014/main" id="{9FE8748C-4326-D251-CF07-37C445AC46F8}"/>
                </a:ext>
              </a:extLst>
            </p:cNvPr>
            <p:cNvSpPr/>
            <p:nvPr/>
          </p:nvSpPr>
          <p:spPr>
            <a:xfrm>
              <a:off x="763160" y="904947"/>
              <a:ext cx="816810" cy="456402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900" noProof="1">
                  <a:solidFill>
                    <a:srgbClr val="0070C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System Selection</a:t>
              </a:r>
            </a:p>
          </p:txBody>
        </p:sp>
        <p:sp>
          <p:nvSpPr>
            <p:cNvPr id="13" name="Rectángulo 12">
              <a:extLst>
                <a:ext uri="{FF2B5EF4-FFF2-40B4-BE49-F238E27FC236}">
                  <a16:creationId xmlns:a16="http://schemas.microsoft.com/office/drawing/2014/main" id="{59C64304-BCA4-45E2-D99C-168F3346C254}"/>
                </a:ext>
              </a:extLst>
            </p:cNvPr>
            <p:cNvSpPr/>
            <p:nvPr/>
          </p:nvSpPr>
          <p:spPr>
            <a:xfrm>
              <a:off x="2232481" y="878232"/>
              <a:ext cx="1027795" cy="507225"/>
            </a:xfrm>
            <a:prstGeom prst="rect">
              <a:avLst/>
            </a:prstGeom>
            <a:solidFill>
              <a:srgbClr val="CCECFF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900" noProof="1">
                  <a:solidFill>
                    <a:srgbClr val="0070C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SaaS - OpenAI</a:t>
              </a:r>
            </a:p>
          </p:txBody>
        </p:sp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A98C0026-0E93-F529-EF2F-DB9B39F60F93}"/>
                </a:ext>
              </a:extLst>
            </p:cNvPr>
            <p:cNvSpPr/>
            <p:nvPr/>
          </p:nvSpPr>
          <p:spPr>
            <a:xfrm>
              <a:off x="3809000" y="903642"/>
              <a:ext cx="601075" cy="456402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900" noProof="1">
                  <a:solidFill>
                    <a:srgbClr val="0070C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Solved?</a:t>
              </a:r>
            </a:p>
          </p:txBody>
        </p:sp>
        <p:cxnSp>
          <p:nvCxnSpPr>
            <p:cNvPr id="20" name="Conector recto de flecha 19">
              <a:extLst>
                <a:ext uri="{FF2B5EF4-FFF2-40B4-BE49-F238E27FC236}">
                  <a16:creationId xmlns:a16="http://schemas.microsoft.com/office/drawing/2014/main" id="{61196304-25C9-FA4C-9F4E-984DD266ADDD}"/>
                </a:ext>
              </a:extLst>
            </p:cNvPr>
            <p:cNvCxnSpPr>
              <a:cxnSpLocks/>
              <a:stCxn id="13" idx="3"/>
              <a:endCxn id="17" idx="1"/>
            </p:cNvCxnSpPr>
            <p:nvPr/>
          </p:nvCxnSpPr>
          <p:spPr>
            <a:xfrm flipV="1">
              <a:off x="3260276" y="1131843"/>
              <a:ext cx="548724" cy="2"/>
            </a:xfrm>
            <a:prstGeom prst="straightConnector1">
              <a:avLst/>
            </a:prstGeom>
            <a:ln w="12700">
              <a:solidFill>
                <a:srgbClr val="00206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ector recto de flecha 34">
              <a:extLst>
                <a:ext uri="{FF2B5EF4-FFF2-40B4-BE49-F238E27FC236}">
                  <a16:creationId xmlns:a16="http://schemas.microsoft.com/office/drawing/2014/main" id="{365EF509-0CC8-9E4E-60AF-34F1EE1EF5CB}"/>
                </a:ext>
              </a:extLst>
            </p:cNvPr>
            <p:cNvCxnSpPr>
              <a:cxnSpLocks/>
              <a:stCxn id="12" idx="3"/>
              <a:endCxn id="13" idx="1"/>
            </p:cNvCxnSpPr>
            <p:nvPr/>
          </p:nvCxnSpPr>
          <p:spPr>
            <a:xfrm flipV="1">
              <a:off x="1579970" y="1131845"/>
              <a:ext cx="652511" cy="1303"/>
            </a:xfrm>
            <a:prstGeom prst="straightConnector1">
              <a:avLst/>
            </a:prstGeom>
            <a:ln w="12700">
              <a:solidFill>
                <a:srgbClr val="00206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2" name="Grupo 61">
              <a:extLst>
                <a:ext uri="{FF2B5EF4-FFF2-40B4-BE49-F238E27FC236}">
                  <a16:creationId xmlns:a16="http://schemas.microsoft.com/office/drawing/2014/main" id="{976B7035-4F40-9B86-CBE5-C743FEC3E59B}"/>
                </a:ext>
              </a:extLst>
            </p:cNvPr>
            <p:cNvGrpSpPr/>
            <p:nvPr/>
          </p:nvGrpSpPr>
          <p:grpSpPr>
            <a:xfrm>
              <a:off x="4413986" y="582745"/>
              <a:ext cx="912520" cy="1031366"/>
              <a:chOff x="4410075" y="822775"/>
              <a:chExt cx="912520" cy="1031366"/>
            </a:xfrm>
          </p:grpSpPr>
          <p:grpSp>
            <p:nvGrpSpPr>
              <p:cNvPr id="41" name="Grupo 40">
                <a:extLst>
                  <a:ext uri="{FF2B5EF4-FFF2-40B4-BE49-F238E27FC236}">
                    <a16:creationId xmlns:a16="http://schemas.microsoft.com/office/drawing/2014/main" id="{88AB0367-0553-D430-238D-C1FA4441472A}"/>
                  </a:ext>
                </a:extLst>
              </p:cNvPr>
              <p:cNvGrpSpPr/>
              <p:nvPr/>
            </p:nvGrpSpPr>
            <p:grpSpPr>
              <a:xfrm>
                <a:off x="4829174" y="822775"/>
                <a:ext cx="448437" cy="456402"/>
                <a:chOff x="4869179" y="933265"/>
                <a:chExt cx="448437" cy="456402"/>
              </a:xfrm>
            </p:grpSpPr>
            <p:sp>
              <p:nvSpPr>
                <p:cNvPr id="40" name="Elipse 39">
                  <a:extLst>
                    <a:ext uri="{FF2B5EF4-FFF2-40B4-BE49-F238E27FC236}">
                      <a16:creationId xmlns:a16="http://schemas.microsoft.com/office/drawing/2014/main" id="{C1B06A06-15BA-0958-DCB1-618AE9066E88}"/>
                    </a:ext>
                  </a:extLst>
                </p:cNvPr>
                <p:cNvSpPr/>
                <p:nvPr/>
              </p:nvSpPr>
              <p:spPr>
                <a:xfrm>
                  <a:off x="4926012" y="1028464"/>
                  <a:ext cx="270000" cy="270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 sz="200" dirty="0"/>
                </a:p>
              </p:txBody>
            </p:sp>
            <p:sp>
              <p:nvSpPr>
                <p:cNvPr id="39" name="Rectángulo 38">
                  <a:extLst>
                    <a:ext uri="{FF2B5EF4-FFF2-40B4-BE49-F238E27FC236}">
                      <a16:creationId xmlns:a16="http://schemas.microsoft.com/office/drawing/2014/main" id="{44AA6117-EFDC-80E4-3059-309BD7E94AE6}"/>
                    </a:ext>
                  </a:extLst>
                </p:cNvPr>
                <p:cNvSpPr/>
                <p:nvPr/>
              </p:nvSpPr>
              <p:spPr>
                <a:xfrm>
                  <a:off x="4869179" y="933265"/>
                  <a:ext cx="448437" cy="456402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s-ES" sz="900" noProof="1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Yes</a:t>
                  </a:r>
                </a:p>
              </p:txBody>
            </p:sp>
          </p:grpSp>
          <p:cxnSp>
            <p:nvCxnSpPr>
              <p:cNvPr id="43" name="Conector recto de flecha 42">
                <a:extLst>
                  <a:ext uri="{FF2B5EF4-FFF2-40B4-BE49-F238E27FC236}">
                    <a16:creationId xmlns:a16="http://schemas.microsoft.com/office/drawing/2014/main" id="{EE97A5FA-7920-041E-8575-38700DBAF488}"/>
                  </a:ext>
                </a:extLst>
              </p:cNvPr>
              <p:cNvCxnSpPr>
                <a:cxnSpLocks/>
                <a:stCxn id="17" idx="3"/>
              </p:cNvCxnSpPr>
              <p:nvPr/>
            </p:nvCxnSpPr>
            <p:spPr>
              <a:xfrm>
                <a:off x="4410075" y="1371873"/>
                <a:ext cx="359735" cy="0"/>
              </a:xfrm>
              <a:prstGeom prst="straightConnector1">
                <a:avLst/>
              </a:prstGeom>
              <a:ln w="12700">
                <a:solidFill>
                  <a:srgbClr val="00206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Conector recto de flecha 45">
                <a:extLst>
                  <a:ext uri="{FF2B5EF4-FFF2-40B4-BE49-F238E27FC236}">
                    <a16:creationId xmlns:a16="http://schemas.microsoft.com/office/drawing/2014/main" id="{B57E9300-CD28-576B-7F1F-96864F05260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770120" y="1168772"/>
                <a:ext cx="104038" cy="202982"/>
              </a:xfrm>
              <a:prstGeom prst="straightConnector1">
                <a:avLst/>
              </a:prstGeom>
              <a:ln w="12700">
                <a:solidFill>
                  <a:srgbClr val="00206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5" name="Grupo 54">
                <a:extLst>
                  <a:ext uri="{FF2B5EF4-FFF2-40B4-BE49-F238E27FC236}">
                    <a16:creationId xmlns:a16="http://schemas.microsoft.com/office/drawing/2014/main" id="{8F7CBF50-25B6-C5AB-D756-82D60CD2E1C5}"/>
                  </a:ext>
                </a:extLst>
              </p:cNvPr>
              <p:cNvGrpSpPr/>
              <p:nvPr/>
            </p:nvGrpSpPr>
            <p:grpSpPr>
              <a:xfrm>
                <a:off x="4874158" y="1397739"/>
                <a:ext cx="448437" cy="456402"/>
                <a:chOff x="5057202" y="1352763"/>
                <a:chExt cx="448437" cy="456402"/>
              </a:xfrm>
            </p:grpSpPr>
            <p:sp>
              <p:nvSpPr>
                <p:cNvPr id="38" name="Rectángulo 37">
                  <a:extLst>
                    <a:ext uri="{FF2B5EF4-FFF2-40B4-BE49-F238E27FC236}">
                      <a16:creationId xmlns:a16="http://schemas.microsoft.com/office/drawing/2014/main" id="{A5C40BEF-E021-DC75-AC85-0B58841DE820}"/>
                    </a:ext>
                  </a:extLst>
                </p:cNvPr>
                <p:cNvSpPr/>
                <p:nvPr/>
              </p:nvSpPr>
              <p:spPr>
                <a:xfrm>
                  <a:off x="5057202" y="1352763"/>
                  <a:ext cx="448437" cy="456402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s-ES" sz="900" noProof="1">
                      <a:solidFill>
                        <a:srgbClr val="7030A0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No</a:t>
                  </a:r>
                </a:p>
              </p:txBody>
            </p:sp>
            <p:sp>
              <p:nvSpPr>
                <p:cNvPr id="53" name="Rectángulo 52">
                  <a:extLst>
                    <a:ext uri="{FF2B5EF4-FFF2-40B4-BE49-F238E27FC236}">
                      <a16:creationId xmlns:a16="http://schemas.microsoft.com/office/drawing/2014/main" id="{BA023985-DC86-96E6-72E2-9466ACBB5C82}"/>
                    </a:ext>
                  </a:extLst>
                </p:cNvPr>
                <p:cNvSpPr/>
                <p:nvPr/>
              </p:nvSpPr>
              <p:spPr>
                <a:xfrm>
                  <a:off x="5103784" y="1465950"/>
                  <a:ext cx="234000" cy="234000"/>
                </a:xfrm>
                <a:prstGeom prst="rect">
                  <a:avLst/>
                </a:prstGeom>
                <a:noFill/>
                <a:ln>
                  <a:solidFill>
                    <a:srgbClr val="7030A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cxnSp>
            <p:nvCxnSpPr>
              <p:cNvPr id="54" name="Conector recto de flecha 53">
                <a:extLst>
                  <a:ext uri="{FF2B5EF4-FFF2-40B4-BE49-F238E27FC236}">
                    <a16:creationId xmlns:a16="http://schemas.microsoft.com/office/drawing/2014/main" id="{6DEA05FF-6A44-F887-27F1-9643B79678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70120" y="1367888"/>
                <a:ext cx="104038" cy="202982"/>
              </a:xfrm>
              <a:prstGeom prst="straightConnector1">
                <a:avLst/>
              </a:prstGeom>
              <a:ln w="12700">
                <a:solidFill>
                  <a:srgbClr val="00206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87" name="Rectángulo 86">
            <a:extLst>
              <a:ext uri="{FF2B5EF4-FFF2-40B4-BE49-F238E27FC236}">
                <a16:creationId xmlns:a16="http://schemas.microsoft.com/office/drawing/2014/main" id="{0D055F2F-9E98-3063-B6E7-F9DF314D3BA0}"/>
              </a:ext>
            </a:extLst>
          </p:cNvPr>
          <p:cNvSpPr/>
          <p:nvPr/>
        </p:nvSpPr>
        <p:spPr>
          <a:xfrm>
            <a:off x="3286436" y="669575"/>
            <a:ext cx="108000" cy="108000"/>
          </a:xfrm>
          <a:prstGeom prst="rect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6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s-ES" sz="200" dirty="0">
              <a:solidFill>
                <a:srgbClr val="002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8" name="Rectángulo 87">
            <a:extLst>
              <a:ext uri="{FF2B5EF4-FFF2-40B4-BE49-F238E27FC236}">
                <a16:creationId xmlns:a16="http://schemas.microsoft.com/office/drawing/2014/main" id="{085AED5A-ACD3-CB54-25F4-EBEEB86F95D4}"/>
              </a:ext>
            </a:extLst>
          </p:cNvPr>
          <p:cNvSpPr/>
          <p:nvPr/>
        </p:nvSpPr>
        <p:spPr>
          <a:xfrm>
            <a:off x="5293279" y="669575"/>
            <a:ext cx="108000" cy="108000"/>
          </a:xfrm>
          <a:prstGeom prst="rect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6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es-ES" sz="200" dirty="0">
              <a:solidFill>
                <a:srgbClr val="002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67" name="Grupo 166">
            <a:extLst>
              <a:ext uri="{FF2B5EF4-FFF2-40B4-BE49-F238E27FC236}">
                <a16:creationId xmlns:a16="http://schemas.microsoft.com/office/drawing/2014/main" id="{7DC20520-42A2-5858-0996-B8F5D34EDCD4}"/>
              </a:ext>
            </a:extLst>
          </p:cNvPr>
          <p:cNvGrpSpPr/>
          <p:nvPr/>
        </p:nvGrpSpPr>
        <p:grpSpPr>
          <a:xfrm>
            <a:off x="7318938" y="803482"/>
            <a:ext cx="1409771" cy="203716"/>
            <a:chOff x="7318938" y="2685622"/>
            <a:chExt cx="1409771" cy="203716"/>
          </a:xfrm>
        </p:grpSpPr>
        <p:sp>
          <p:nvSpPr>
            <p:cNvPr id="84" name="Rectángulo 83">
              <a:extLst>
                <a:ext uri="{FF2B5EF4-FFF2-40B4-BE49-F238E27FC236}">
                  <a16:creationId xmlns:a16="http://schemas.microsoft.com/office/drawing/2014/main" id="{9AB7D013-32E1-A7FD-C1D6-419EA9E56AB7}"/>
                </a:ext>
              </a:extLst>
            </p:cNvPr>
            <p:cNvSpPr/>
            <p:nvPr/>
          </p:nvSpPr>
          <p:spPr>
            <a:xfrm>
              <a:off x="7428460" y="2685622"/>
              <a:ext cx="1300249" cy="203716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s-ES" sz="700" b="1" noProof="1">
                  <a:solidFill>
                    <a:srgbClr val="7030A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OpenAI API </a:t>
              </a:r>
              <a:r>
                <a:rPr lang="es-ES" sz="700" noProof="1">
                  <a:solidFill>
                    <a:srgbClr val="7030A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(no assistant).</a:t>
              </a:r>
            </a:p>
            <a:p>
              <a:r>
                <a:rPr lang="es-ES" sz="700" b="1" noProof="1">
                  <a:solidFill>
                    <a:srgbClr val="7030A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Model</a:t>
              </a:r>
              <a:r>
                <a:rPr lang="es-ES" sz="700" noProof="1">
                  <a:solidFill>
                    <a:srgbClr val="7030A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: gpt4-o</a:t>
              </a:r>
            </a:p>
          </p:txBody>
        </p:sp>
        <p:sp>
          <p:nvSpPr>
            <p:cNvPr id="89" name="Rectángulo 88">
              <a:extLst>
                <a:ext uri="{FF2B5EF4-FFF2-40B4-BE49-F238E27FC236}">
                  <a16:creationId xmlns:a16="http://schemas.microsoft.com/office/drawing/2014/main" id="{2FCBA90D-7394-F75B-A429-5CB05DF45AEE}"/>
                </a:ext>
              </a:extLst>
            </p:cNvPr>
            <p:cNvSpPr/>
            <p:nvPr/>
          </p:nvSpPr>
          <p:spPr>
            <a:xfrm>
              <a:off x="7318938" y="2733776"/>
              <a:ext cx="108000" cy="108000"/>
            </a:xfrm>
            <a:prstGeom prst="rect">
              <a:avLst/>
            </a:prstGeom>
            <a:solidFill>
              <a:schemeClr val="bg1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600" dirty="0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es-ES" sz="2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6" name="Rectángulo 15">
            <a:extLst>
              <a:ext uri="{FF2B5EF4-FFF2-40B4-BE49-F238E27FC236}">
                <a16:creationId xmlns:a16="http://schemas.microsoft.com/office/drawing/2014/main" id="{BE7899A1-682E-2018-3DE9-BA2EF7536A2F}"/>
              </a:ext>
            </a:extLst>
          </p:cNvPr>
          <p:cNvSpPr/>
          <p:nvPr/>
        </p:nvSpPr>
        <p:spPr>
          <a:xfrm>
            <a:off x="2052638" y="2007482"/>
            <a:ext cx="3512723" cy="1057317"/>
          </a:xfrm>
          <a:prstGeom prst="rect">
            <a:avLst/>
          </a:prstGeom>
          <a:solidFill>
            <a:srgbClr val="39003D">
              <a:alpha val="5000"/>
            </a:srgbClr>
          </a:solidFill>
          <a:ln w="1270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02F186"/>
              </a:solidFill>
            </a:endParaRPr>
          </a:p>
        </p:txBody>
      </p:sp>
      <p:grpSp>
        <p:nvGrpSpPr>
          <p:cNvPr id="124" name="Grupo 123">
            <a:extLst>
              <a:ext uri="{FF2B5EF4-FFF2-40B4-BE49-F238E27FC236}">
                <a16:creationId xmlns:a16="http://schemas.microsoft.com/office/drawing/2014/main" id="{1717ED88-FFCE-B79D-DCF2-7A7E625B2312}"/>
              </a:ext>
            </a:extLst>
          </p:cNvPr>
          <p:cNvGrpSpPr/>
          <p:nvPr/>
        </p:nvGrpSpPr>
        <p:grpSpPr>
          <a:xfrm>
            <a:off x="2232481" y="2028535"/>
            <a:ext cx="3168798" cy="1031366"/>
            <a:chOff x="2232481" y="1971132"/>
            <a:chExt cx="3168798" cy="1031366"/>
          </a:xfrm>
        </p:grpSpPr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27646C31-8C1A-6C5F-F3D3-59FB5FE4E715}"/>
                </a:ext>
              </a:extLst>
            </p:cNvPr>
            <p:cNvSpPr/>
            <p:nvPr/>
          </p:nvSpPr>
          <p:spPr>
            <a:xfrm>
              <a:off x="2232481" y="2263281"/>
              <a:ext cx="1027795" cy="507225"/>
            </a:xfrm>
            <a:prstGeom prst="rect">
              <a:avLst/>
            </a:prstGeom>
            <a:solidFill>
              <a:srgbClr val="CCECFF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900" noProof="1">
                  <a:solidFill>
                    <a:srgbClr val="0070C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0-shot/few-shot Local Model</a:t>
              </a:r>
            </a:p>
          </p:txBody>
        </p:sp>
        <p:sp>
          <p:nvSpPr>
            <p:cNvPr id="18" name="Rectángulo 17">
              <a:extLst>
                <a:ext uri="{FF2B5EF4-FFF2-40B4-BE49-F238E27FC236}">
                  <a16:creationId xmlns:a16="http://schemas.microsoft.com/office/drawing/2014/main" id="{E726224B-5A2B-B831-FE9E-F3343D0F8C1C}"/>
                </a:ext>
              </a:extLst>
            </p:cNvPr>
            <p:cNvSpPr/>
            <p:nvPr/>
          </p:nvSpPr>
          <p:spPr>
            <a:xfrm>
              <a:off x="3809000" y="2289037"/>
              <a:ext cx="601075" cy="456402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900" noProof="1">
                  <a:solidFill>
                    <a:srgbClr val="0070C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Solved?</a:t>
              </a:r>
            </a:p>
          </p:txBody>
        </p:sp>
        <p:cxnSp>
          <p:nvCxnSpPr>
            <p:cNvPr id="23" name="Conector recto de flecha 22">
              <a:extLst>
                <a:ext uri="{FF2B5EF4-FFF2-40B4-BE49-F238E27FC236}">
                  <a16:creationId xmlns:a16="http://schemas.microsoft.com/office/drawing/2014/main" id="{7D06C5C8-F8D3-CF82-0FF5-C7F5722F8106}"/>
                </a:ext>
              </a:extLst>
            </p:cNvPr>
            <p:cNvCxnSpPr>
              <a:cxnSpLocks/>
              <a:stCxn id="14" idx="3"/>
              <a:endCxn id="18" idx="1"/>
            </p:cNvCxnSpPr>
            <p:nvPr/>
          </p:nvCxnSpPr>
          <p:spPr>
            <a:xfrm>
              <a:off x="3260276" y="2516894"/>
              <a:ext cx="548724" cy="344"/>
            </a:xfrm>
            <a:prstGeom prst="straightConnector1">
              <a:avLst/>
            </a:prstGeom>
            <a:ln w="12700">
              <a:solidFill>
                <a:srgbClr val="00206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3" name="Grupo 62">
              <a:extLst>
                <a:ext uri="{FF2B5EF4-FFF2-40B4-BE49-F238E27FC236}">
                  <a16:creationId xmlns:a16="http://schemas.microsoft.com/office/drawing/2014/main" id="{EB271416-E14F-A123-53C6-9226092D6308}"/>
                </a:ext>
              </a:extLst>
            </p:cNvPr>
            <p:cNvGrpSpPr/>
            <p:nvPr/>
          </p:nvGrpSpPr>
          <p:grpSpPr>
            <a:xfrm>
              <a:off x="4413986" y="1971132"/>
              <a:ext cx="912520" cy="1031366"/>
              <a:chOff x="4410075" y="822775"/>
              <a:chExt cx="912520" cy="1031366"/>
            </a:xfrm>
          </p:grpSpPr>
          <p:grpSp>
            <p:nvGrpSpPr>
              <p:cNvPr id="64" name="Grupo 63">
                <a:extLst>
                  <a:ext uri="{FF2B5EF4-FFF2-40B4-BE49-F238E27FC236}">
                    <a16:creationId xmlns:a16="http://schemas.microsoft.com/office/drawing/2014/main" id="{3533C0BB-36FC-E8BA-2B8D-991FB905DA20}"/>
                  </a:ext>
                </a:extLst>
              </p:cNvPr>
              <p:cNvGrpSpPr/>
              <p:nvPr/>
            </p:nvGrpSpPr>
            <p:grpSpPr>
              <a:xfrm>
                <a:off x="4829174" y="822775"/>
                <a:ext cx="448437" cy="456402"/>
                <a:chOff x="4869179" y="933265"/>
                <a:chExt cx="448437" cy="456402"/>
              </a:xfrm>
            </p:grpSpPr>
            <p:sp>
              <p:nvSpPr>
                <p:cNvPr id="71" name="Elipse 70">
                  <a:extLst>
                    <a:ext uri="{FF2B5EF4-FFF2-40B4-BE49-F238E27FC236}">
                      <a16:creationId xmlns:a16="http://schemas.microsoft.com/office/drawing/2014/main" id="{FF060121-DD9E-8DB5-A774-92409BC4A005}"/>
                    </a:ext>
                  </a:extLst>
                </p:cNvPr>
                <p:cNvSpPr/>
                <p:nvPr/>
              </p:nvSpPr>
              <p:spPr>
                <a:xfrm>
                  <a:off x="4926012" y="1028464"/>
                  <a:ext cx="270000" cy="270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 sz="200" dirty="0"/>
                </a:p>
              </p:txBody>
            </p:sp>
            <p:sp>
              <p:nvSpPr>
                <p:cNvPr id="72" name="Rectángulo 71">
                  <a:extLst>
                    <a:ext uri="{FF2B5EF4-FFF2-40B4-BE49-F238E27FC236}">
                      <a16:creationId xmlns:a16="http://schemas.microsoft.com/office/drawing/2014/main" id="{0DC7679B-5002-E310-14C1-7855D2BC97C2}"/>
                    </a:ext>
                  </a:extLst>
                </p:cNvPr>
                <p:cNvSpPr/>
                <p:nvPr/>
              </p:nvSpPr>
              <p:spPr>
                <a:xfrm>
                  <a:off x="4869179" y="933265"/>
                  <a:ext cx="448437" cy="456402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s-ES" sz="900" noProof="1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Yes</a:t>
                  </a:r>
                </a:p>
              </p:txBody>
            </p:sp>
          </p:grpSp>
          <p:cxnSp>
            <p:nvCxnSpPr>
              <p:cNvPr id="65" name="Conector recto de flecha 64">
                <a:extLst>
                  <a:ext uri="{FF2B5EF4-FFF2-40B4-BE49-F238E27FC236}">
                    <a16:creationId xmlns:a16="http://schemas.microsoft.com/office/drawing/2014/main" id="{D7058EB9-496C-B3DA-3644-77ADE55010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10075" y="1371873"/>
                <a:ext cx="359735" cy="0"/>
              </a:xfrm>
              <a:prstGeom prst="straightConnector1">
                <a:avLst/>
              </a:prstGeom>
              <a:ln w="12700">
                <a:solidFill>
                  <a:srgbClr val="00206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Conector recto de flecha 65">
                <a:extLst>
                  <a:ext uri="{FF2B5EF4-FFF2-40B4-BE49-F238E27FC236}">
                    <a16:creationId xmlns:a16="http://schemas.microsoft.com/office/drawing/2014/main" id="{8745E755-A201-CAD8-E8FE-E0F386251AB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770120" y="1168772"/>
                <a:ext cx="104038" cy="202982"/>
              </a:xfrm>
              <a:prstGeom prst="straightConnector1">
                <a:avLst/>
              </a:prstGeom>
              <a:ln w="12700">
                <a:solidFill>
                  <a:srgbClr val="00206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7" name="Grupo 66">
                <a:extLst>
                  <a:ext uri="{FF2B5EF4-FFF2-40B4-BE49-F238E27FC236}">
                    <a16:creationId xmlns:a16="http://schemas.microsoft.com/office/drawing/2014/main" id="{1578FFC7-E4B2-3015-29F1-8B12205F36F4}"/>
                  </a:ext>
                </a:extLst>
              </p:cNvPr>
              <p:cNvGrpSpPr/>
              <p:nvPr/>
            </p:nvGrpSpPr>
            <p:grpSpPr>
              <a:xfrm>
                <a:off x="4874158" y="1397739"/>
                <a:ext cx="448437" cy="456402"/>
                <a:chOff x="5057202" y="1352763"/>
                <a:chExt cx="448437" cy="456402"/>
              </a:xfrm>
            </p:grpSpPr>
            <p:sp>
              <p:nvSpPr>
                <p:cNvPr id="69" name="Rectángulo 68">
                  <a:extLst>
                    <a:ext uri="{FF2B5EF4-FFF2-40B4-BE49-F238E27FC236}">
                      <a16:creationId xmlns:a16="http://schemas.microsoft.com/office/drawing/2014/main" id="{6C5153AB-6EA2-74B1-4DCB-531432C864EE}"/>
                    </a:ext>
                  </a:extLst>
                </p:cNvPr>
                <p:cNvSpPr/>
                <p:nvPr/>
              </p:nvSpPr>
              <p:spPr>
                <a:xfrm>
                  <a:off x="5057202" y="1352763"/>
                  <a:ext cx="448437" cy="456402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s-ES" sz="900" noProof="1">
                      <a:solidFill>
                        <a:srgbClr val="7030A0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No</a:t>
                  </a:r>
                </a:p>
              </p:txBody>
            </p:sp>
            <p:sp>
              <p:nvSpPr>
                <p:cNvPr id="70" name="Rectángulo 69">
                  <a:extLst>
                    <a:ext uri="{FF2B5EF4-FFF2-40B4-BE49-F238E27FC236}">
                      <a16:creationId xmlns:a16="http://schemas.microsoft.com/office/drawing/2014/main" id="{2073A1E5-D166-5AF5-7B0D-2976F79C1172}"/>
                    </a:ext>
                  </a:extLst>
                </p:cNvPr>
                <p:cNvSpPr/>
                <p:nvPr/>
              </p:nvSpPr>
              <p:spPr>
                <a:xfrm>
                  <a:off x="5103784" y="1465950"/>
                  <a:ext cx="234000" cy="234000"/>
                </a:xfrm>
                <a:prstGeom prst="rect">
                  <a:avLst/>
                </a:prstGeom>
                <a:noFill/>
                <a:ln>
                  <a:solidFill>
                    <a:srgbClr val="7030A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cxnSp>
            <p:nvCxnSpPr>
              <p:cNvPr id="68" name="Conector recto de flecha 67">
                <a:extLst>
                  <a:ext uri="{FF2B5EF4-FFF2-40B4-BE49-F238E27FC236}">
                    <a16:creationId xmlns:a16="http://schemas.microsoft.com/office/drawing/2014/main" id="{F7AA13A0-129F-4F10-67DC-7EC8E20370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70120" y="1367888"/>
                <a:ext cx="104038" cy="202982"/>
              </a:xfrm>
              <a:prstGeom prst="straightConnector1">
                <a:avLst/>
              </a:prstGeom>
              <a:ln w="12700">
                <a:solidFill>
                  <a:srgbClr val="00206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0" name="Rectángulo 89">
              <a:extLst>
                <a:ext uri="{FF2B5EF4-FFF2-40B4-BE49-F238E27FC236}">
                  <a16:creationId xmlns:a16="http://schemas.microsoft.com/office/drawing/2014/main" id="{69C4EE59-1CFD-6B2F-CC0C-40BAE369F6B9}"/>
                </a:ext>
              </a:extLst>
            </p:cNvPr>
            <p:cNvSpPr/>
            <p:nvPr/>
          </p:nvSpPr>
          <p:spPr>
            <a:xfrm>
              <a:off x="5293279" y="2016852"/>
              <a:ext cx="108000" cy="108000"/>
            </a:xfrm>
            <a:prstGeom prst="rect">
              <a:avLst/>
            </a:prstGeom>
            <a:solidFill>
              <a:schemeClr val="bg1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600" dirty="0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s-ES" sz="2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94" name="Grupo 93">
            <a:extLst>
              <a:ext uri="{FF2B5EF4-FFF2-40B4-BE49-F238E27FC236}">
                <a16:creationId xmlns:a16="http://schemas.microsoft.com/office/drawing/2014/main" id="{C59C8CBB-ED11-FB75-4DB4-C9287D97FA6D}"/>
              </a:ext>
            </a:extLst>
          </p:cNvPr>
          <p:cNvGrpSpPr/>
          <p:nvPr/>
        </p:nvGrpSpPr>
        <p:grpSpPr>
          <a:xfrm>
            <a:off x="2232481" y="3474326"/>
            <a:ext cx="3168798" cy="1031366"/>
            <a:chOff x="2232481" y="3474326"/>
            <a:chExt cx="3168798" cy="1031366"/>
          </a:xfrm>
        </p:grpSpPr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9E761F00-CB40-AA15-2D6F-9ACFAE9699EA}"/>
                </a:ext>
              </a:extLst>
            </p:cNvPr>
            <p:cNvSpPr/>
            <p:nvPr/>
          </p:nvSpPr>
          <p:spPr>
            <a:xfrm>
              <a:off x="2232481" y="3763138"/>
              <a:ext cx="1027795" cy="507225"/>
            </a:xfrm>
            <a:prstGeom prst="rect">
              <a:avLst/>
            </a:prstGeom>
            <a:solidFill>
              <a:srgbClr val="CCECFF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900" noProof="1">
                  <a:solidFill>
                    <a:srgbClr val="0070C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Fine Tuned Local Model</a:t>
              </a:r>
            </a:p>
          </p:txBody>
        </p:sp>
        <p:sp>
          <p:nvSpPr>
            <p:cNvPr id="19" name="Rectángulo 18">
              <a:extLst>
                <a:ext uri="{FF2B5EF4-FFF2-40B4-BE49-F238E27FC236}">
                  <a16:creationId xmlns:a16="http://schemas.microsoft.com/office/drawing/2014/main" id="{44ABC9D8-3849-4B6D-3BB0-95C7CB345442}"/>
                </a:ext>
              </a:extLst>
            </p:cNvPr>
            <p:cNvSpPr/>
            <p:nvPr/>
          </p:nvSpPr>
          <p:spPr>
            <a:xfrm>
              <a:off x="3809000" y="3788894"/>
              <a:ext cx="601075" cy="456402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900" noProof="1">
                  <a:solidFill>
                    <a:srgbClr val="0070C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Solved?</a:t>
              </a:r>
            </a:p>
          </p:txBody>
        </p:sp>
        <p:cxnSp>
          <p:nvCxnSpPr>
            <p:cNvPr id="32" name="Conector recto de flecha 31">
              <a:extLst>
                <a:ext uri="{FF2B5EF4-FFF2-40B4-BE49-F238E27FC236}">
                  <a16:creationId xmlns:a16="http://schemas.microsoft.com/office/drawing/2014/main" id="{87FAA354-8EE5-E91E-D5DE-4389D7D5B16A}"/>
                </a:ext>
              </a:extLst>
            </p:cNvPr>
            <p:cNvCxnSpPr>
              <a:cxnSpLocks/>
              <a:stCxn id="15" idx="3"/>
              <a:endCxn id="19" idx="1"/>
            </p:cNvCxnSpPr>
            <p:nvPr/>
          </p:nvCxnSpPr>
          <p:spPr>
            <a:xfrm>
              <a:off x="3260276" y="4016751"/>
              <a:ext cx="548724" cy="344"/>
            </a:xfrm>
            <a:prstGeom prst="straightConnector1">
              <a:avLst/>
            </a:prstGeom>
            <a:ln w="12700">
              <a:solidFill>
                <a:srgbClr val="00206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3" name="Grupo 72">
              <a:extLst>
                <a:ext uri="{FF2B5EF4-FFF2-40B4-BE49-F238E27FC236}">
                  <a16:creationId xmlns:a16="http://schemas.microsoft.com/office/drawing/2014/main" id="{1F2C50B3-1B90-00F7-4EE5-1F81175A90A4}"/>
                </a:ext>
              </a:extLst>
            </p:cNvPr>
            <p:cNvGrpSpPr/>
            <p:nvPr/>
          </p:nvGrpSpPr>
          <p:grpSpPr>
            <a:xfrm>
              <a:off x="4413986" y="3474326"/>
              <a:ext cx="912520" cy="1031366"/>
              <a:chOff x="4410075" y="822775"/>
              <a:chExt cx="912520" cy="1031366"/>
            </a:xfrm>
          </p:grpSpPr>
          <p:grpSp>
            <p:nvGrpSpPr>
              <p:cNvPr id="74" name="Grupo 73">
                <a:extLst>
                  <a:ext uri="{FF2B5EF4-FFF2-40B4-BE49-F238E27FC236}">
                    <a16:creationId xmlns:a16="http://schemas.microsoft.com/office/drawing/2014/main" id="{B00CD948-54DC-97DE-76D3-44D4F28D0958}"/>
                  </a:ext>
                </a:extLst>
              </p:cNvPr>
              <p:cNvGrpSpPr/>
              <p:nvPr/>
            </p:nvGrpSpPr>
            <p:grpSpPr>
              <a:xfrm>
                <a:off x="4829174" y="822775"/>
                <a:ext cx="448437" cy="456402"/>
                <a:chOff x="4869179" y="933265"/>
                <a:chExt cx="448437" cy="456402"/>
              </a:xfrm>
            </p:grpSpPr>
            <p:sp>
              <p:nvSpPr>
                <p:cNvPr id="81" name="Elipse 80">
                  <a:extLst>
                    <a:ext uri="{FF2B5EF4-FFF2-40B4-BE49-F238E27FC236}">
                      <a16:creationId xmlns:a16="http://schemas.microsoft.com/office/drawing/2014/main" id="{D1516FAD-9740-9CE9-AB1E-CF7BE5D593B6}"/>
                    </a:ext>
                  </a:extLst>
                </p:cNvPr>
                <p:cNvSpPr/>
                <p:nvPr/>
              </p:nvSpPr>
              <p:spPr>
                <a:xfrm>
                  <a:off x="4926012" y="1028464"/>
                  <a:ext cx="270000" cy="270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 sz="200" dirty="0"/>
                </a:p>
              </p:txBody>
            </p:sp>
            <p:sp>
              <p:nvSpPr>
                <p:cNvPr id="82" name="Rectángulo 81">
                  <a:extLst>
                    <a:ext uri="{FF2B5EF4-FFF2-40B4-BE49-F238E27FC236}">
                      <a16:creationId xmlns:a16="http://schemas.microsoft.com/office/drawing/2014/main" id="{A843CBF3-39AE-679C-6357-E9499D00BCE6}"/>
                    </a:ext>
                  </a:extLst>
                </p:cNvPr>
                <p:cNvSpPr/>
                <p:nvPr/>
              </p:nvSpPr>
              <p:spPr>
                <a:xfrm>
                  <a:off x="4869179" y="933265"/>
                  <a:ext cx="448437" cy="456402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s-ES" sz="900" noProof="1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Yes</a:t>
                  </a:r>
                </a:p>
              </p:txBody>
            </p:sp>
          </p:grpSp>
          <p:cxnSp>
            <p:nvCxnSpPr>
              <p:cNvPr id="75" name="Conector recto de flecha 74">
                <a:extLst>
                  <a:ext uri="{FF2B5EF4-FFF2-40B4-BE49-F238E27FC236}">
                    <a16:creationId xmlns:a16="http://schemas.microsoft.com/office/drawing/2014/main" id="{1142F45D-9CA5-BFC3-CDF5-C93F08A41A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10075" y="1371873"/>
                <a:ext cx="359735" cy="0"/>
              </a:xfrm>
              <a:prstGeom prst="straightConnector1">
                <a:avLst/>
              </a:prstGeom>
              <a:ln w="12700">
                <a:solidFill>
                  <a:srgbClr val="00206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Conector recto de flecha 75">
                <a:extLst>
                  <a:ext uri="{FF2B5EF4-FFF2-40B4-BE49-F238E27FC236}">
                    <a16:creationId xmlns:a16="http://schemas.microsoft.com/office/drawing/2014/main" id="{C7185A6A-F6A5-2B26-C9EE-373B3AAAD81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770120" y="1168772"/>
                <a:ext cx="104038" cy="202982"/>
              </a:xfrm>
              <a:prstGeom prst="straightConnector1">
                <a:avLst/>
              </a:prstGeom>
              <a:ln w="12700">
                <a:solidFill>
                  <a:srgbClr val="00206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7" name="Grupo 76">
                <a:extLst>
                  <a:ext uri="{FF2B5EF4-FFF2-40B4-BE49-F238E27FC236}">
                    <a16:creationId xmlns:a16="http://schemas.microsoft.com/office/drawing/2014/main" id="{CB60D69D-F9DD-9EEE-61C2-C7AD40307AAC}"/>
                  </a:ext>
                </a:extLst>
              </p:cNvPr>
              <p:cNvGrpSpPr/>
              <p:nvPr/>
            </p:nvGrpSpPr>
            <p:grpSpPr>
              <a:xfrm>
                <a:off x="4874158" y="1397739"/>
                <a:ext cx="448437" cy="456402"/>
                <a:chOff x="5057202" y="1352763"/>
                <a:chExt cx="448437" cy="456402"/>
              </a:xfrm>
            </p:grpSpPr>
            <p:sp>
              <p:nvSpPr>
                <p:cNvPr id="79" name="Rectángulo 78">
                  <a:extLst>
                    <a:ext uri="{FF2B5EF4-FFF2-40B4-BE49-F238E27FC236}">
                      <a16:creationId xmlns:a16="http://schemas.microsoft.com/office/drawing/2014/main" id="{1304928C-7F03-AA08-8AF3-3DFCB522452C}"/>
                    </a:ext>
                  </a:extLst>
                </p:cNvPr>
                <p:cNvSpPr/>
                <p:nvPr/>
              </p:nvSpPr>
              <p:spPr>
                <a:xfrm>
                  <a:off x="5057202" y="1352763"/>
                  <a:ext cx="448437" cy="456402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s-ES" sz="900" noProof="1">
                      <a:solidFill>
                        <a:srgbClr val="7030A0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No</a:t>
                  </a:r>
                </a:p>
              </p:txBody>
            </p:sp>
            <p:sp>
              <p:nvSpPr>
                <p:cNvPr id="80" name="Rectángulo 79">
                  <a:extLst>
                    <a:ext uri="{FF2B5EF4-FFF2-40B4-BE49-F238E27FC236}">
                      <a16:creationId xmlns:a16="http://schemas.microsoft.com/office/drawing/2014/main" id="{C3CBC0E0-FD5A-1114-92A0-D11F524BDD51}"/>
                    </a:ext>
                  </a:extLst>
                </p:cNvPr>
                <p:cNvSpPr/>
                <p:nvPr/>
              </p:nvSpPr>
              <p:spPr>
                <a:xfrm>
                  <a:off x="5103784" y="1465950"/>
                  <a:ext cx="234000" cy="234000"/>
                </a:xfrm>
                <a:prstGeom prst="rect">
                  <a:avLst/>
                </a:prstGeom>
                <a:noFill/>
                <a:ln>
                  <a:solidFill>
                    <a:srgbClr val="7030A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cxnSp>
            <p:nvCxnSpPr>
              <p:cNvPr id="78" name="Conector recto de flecha 77">
                <a:extLst>
                  <a:ext uri="{FF2B5EF4-FFF2-40B4-BE49-F238E27FC236}">
                    <a16:creationId xmlns:a16="http://schemas.microsoft.com/office/drawing/2014/main" id="{1AAF685B-F4B3-AD70-7E66-DF1F47E199C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70120" y="1367888"/>
                <a:ext cx="104038" cy="202982"/>
              </a:xfrm>
              <a:prstGeom prst="straightConnector1">
                <a:avLst/>
              </a:prstGeom>
              <a:ln w="12700">
                <a:solidFill>
                  <a:srgbClr val="00206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1" name="Rectángulo 90">
              <a:extLst>
                <a:ext uri="{FF2B5EF4-FFF2-40B4-BE49-F238E27FC236}">
                  <a16:creationId xmlns:a16="http://schemas.microsoft.com/office/drawing/2014/main" id="{320C2E4E-C0D2-176E-FF3D-4765F503C216}"/>
                </a:ext>
              </a:extLst>
            </p:cNvPr>
            <p:cNvSpPr/>
            <p:nvPr/>
          </p:nvSpPr>
          <p:spPr>
            <a:xfrm>
              <a:off x="5293279" y="3512080"/>
              <a:ext cx="108000" cy="108000"/>
            </a:xfrm>
            <a:prstGeom prst="rect">
              <a:avLst/>
            </a:prstGeom>
            <a:solidFill>
              <a:schemeClr val="bg1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600" dirty="0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endParaRPr lang="es-ES" sz="2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27" name="Grupo 126">
            <a:extLst>
              <a:ext uri="{FF2B5EF4-FFF2-40B4-BE49-F238E27FC236}">
                <a16:creationId xmlns:a16="http://schemas.microsoft.com/office/drawing/2014/main" id="{3390219A-7C04-1831-1250-55A93AA464C1}"/>
              </a:ext>
            </a:extLst>
          </p:cNvPr>
          <p:cNvGrpSpPr/>
          <p:nvPr/>
        </p:nvGrpSpPr>
        <p:grpSpPr>
          <a:xfrm>
            <a:off x="2746379" y="1504896"/>
            <a:ext cx="2295272" cy="815788"/>
            <a:chOff x="2746379" y="1504896"/>
            <a:chExt cx="2295272" cy="815788"/>
          </a:xfrm>
        </p:grpSpPr>
        <p:cxnSp>
          <p:nvCxnSpPr>
            <p:cNvPr id="95" name="Conector recto de flecha 94">
              <a:extLst>
                <a:ext uri="{FF2B5EF4-FFF2-40B4-BE49-F238E27FC236}">
                  <a16:creationId xmlns:a16="http://schemas.microsoft.com/office/drawing/2014/main" id="{0DCFD968-8B6E-9E49-96D5-34F49C35345E}"/>
                </a:ext>
              </a:extLst>
            </p:cNvPr>
            <p:cNvCxnSpPr>
              <a:cxnSpLocks/>
              <a:stCxn id="53" idx="2"/>
            </p:cNvCxnSpPr>
            <p:nvPr/>
          </p:nvCxnSpPr>
          <p:spPr>
            <a:xfrm>
              <a:off x="5041651" y="1504896"/>
              <a:ext cx="0" cy="228654"/>
            </a:xfrm>
            <a:prstGeom prst="straightConnector1">
              <a:avLst/>
            </a:prstGeom>
            <a:ln w="12700">
              <a:solidFill>
                <a:srgbClr val="00206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ector recto de flecha 103">
              <a:extLst>
                <a:ext uri="{FF2B5EF4-FFF2-40B4-BE49-F238E27FC236}">
                  <a16:creationId xmlns:a16="http://schemas.microsoft.com/office/drawing/2014/main" id="{D94B0429-5971-DD4D-A0BA-F3991C99EF0E}"/>
                </a:ext>
              </a:extLst>
            </p:cNvPr>
            <p:cNvCxnSpPr>
              <a:cxnSpLocks/>
            </p:cNvCxnSpPr>
            <p:nvPr/>
          </p:nvCxnSpPr>
          <p:spPr>
            <a:xfrm>
              <a:off x="2746379" y="1733550"/>
              <a:ext cx="2295272" cy="0"/>
            </a:xfrm>
            <a:prstGeom prst="straightConnector1">
              <a:avLst/>
            </a:prstGeom>
            <a:ln w="12700">
              <a:solidFill>
                <a:srgbClr val="00206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ector recto de flecha 105">
              <a:extLst>
                <a:ext uri="{FF2B5EF4-FFF2-40B4-BE49-F238E27FC236}">
                  <a16:creationId xmlns:a16="http://schemas.microsoft.com/office/drawing/2014/main" id="{9BD801C9-C665-458E-3D21-676398FD570B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2746379" y="1733550"/>
              <a:ext cx="0" cy="587134"/>
            </a:xfrm>
            <a:prstGeom prst="straightConnector1">
              <a:avLst/>
            </a:prstGeom>
            <a:ln w="12700">
              <a:solidFill>
                <a:srgbClr val="00206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9" name="Grupo 148">
            <a:extLst>
              <a:ext uri="{FF2B5EF4-FFF2-40B4-BE49-F238E27FC236}">
                <a16:creationId xmlns:a16="http://schemas.microsoft.com/office/drawing/2014/main" id="{E8046D87-4036-BF09-4D3F-A4D35AF59A47}"/>
              </a:ext>
            </a:extLst>
          </p:cNvPr>
          <p:cNvGrpSpPr/>
          <p:nvPr/>
        </p:nvGrpSpPr>
        <p:grpSpPr>
          <a:xfrm>
            <a:off x="2746378" y="2947121"/>
            <a:ext cx="2295272" cy="815788"/>
            <a:chOff x="2746379" y="1504896"/>
            <a:chExt cx="2295272" cy="815788"/>
          </a:xfrm>
        </p:grpSpPr>
        <p:cxnSp>
          <p:nvCxnSpPr>
            <p:cNvPr id="150" name="Conector recto de flecha 149">
              <a:extLst>
                <a:ext uri="{FF2B5EF4-FFF2-40B4-BE49-F238E27FC236}">
                  <a16:creationId xmlns:a16="http://schemas.microsoft.com/office/drawing/2014/main" id="{B6805AC1-EE35-A359-635E-F109112AC784}"/>
                </a:ext>
              </a:extLst>
            </p:cNvPr>
            <p:cNvCxnSpPr>
              <a:cxnSpLocks/>
            </p:cNvCxnSpPr>
            <p:nvPr/>
          </p:nvCxnSpPr>
          <p:spPr>
            <a:xfrm>
              <a:off x="5041651" y="1504896"/>
              <a:ext cx="0" cy="228654"/>
            </a:xfrm>
            <a:prstGeom prst="straightConnector1">
              <a:avLst/>
            </a:prstGeom>
            <a:ln w="12700">
              <a:solidFill>
                <a:srgbClr val="00206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Conector recto de flecha 150">
              <a:extLst>
                <a:ext uri="{FF2B5EF4-FFF2-40B4-BE49-F238E27FC236}">
                  <a16:creationId xmlns:a16="http://schemas.microsoft.com/office/drawing/2014/main" id="{C36D42FE-403B-28CD-730E-8F6D5B9E8C80}"/>
                </a:ext>
              </a:extLst>
            </p:cNvPr>
            <p:cNvCxnSpPr>
              <a:cxnSpLocks/>
            </p:cNvCxnSpPr>
            <p:nvPr/>
          </p:nvCxnSpPr>
          <p:spPr>
            <a:xfrm>
              <a:off x="2746379" y="1733550"/>
              <a:ext cx="2295272" cy="0"/>
            </a:xfrm>
            <a:prstGeom prst="straightConnector1">
              <a:avLst/>
            </a:prstGeom>
            <a:ln w="12700">
              <a:solidFill>
                <a:srgbClr val="00206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Conector recto de flecha 151">
              <a:extLst>
                <a:ext uri="{FF2B5EF4-FFF2-40B4-BE49-F238E27FC236}">
                  <a16:creationId xmlns:a16="http://schemas.microsoft.com/office/drawing/2014/main" id="{2610088A-CB24-F999-02E0-22BB8CFCEA88}"/>
                </a:ext>
              </a:extLst>
            </p:cNvPr>
            <p:cNvCxnSpPr>
              <a:cxnSpLocks/>
            </p:cNvCxnSpPr>
            <p:nvPr/>
          </p:nvCxnSpPr>
          <p:spPr>
            <a:xfrm>
              <a:off x="2746379" y="1733550"/>
              <a:ext cx="0" cy="587134"/>
            </a:xfrm>
            <a:prstGeom prst="straightConnector1">
              <a:avLst/>
            </a:prstGeom>
            <a:ln w="12700">
              <a:solidFill>
                <a:srgbClr val="00206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8" name="Grupo 167">
            <a:extLst>
              <a:ext uri="{FF2B5EF4-FFF2-40B4-BE49-F238E27FC236}">
                <a16:creationId xmlns:a16="http://schemas.microsoft.com/office/drawing/2014/main" id="{F5B4A636-A15B-BED8-258F-B57C145CEC3D}"/>
              </a:ext>
            </a:extLst>
          </p:cNvPr>
          <p:cNvGrpSpPr/>
          <p:nvPr/>
        </p:nvGrpSpPr>
        <p:grpSpPr>
          <a:xfrm>
            <a:off x="7318937" y="1121822"/>
            <a:ext cx="1409772" cy="203716"/>
            <a:chOff x="7318937" y="2915062"/>
            <a:chExt cx="1409772" cy="203716"/>
          </a:xfrm>
        </p:grpSpPr>
        <p:sp>
          <p:nvSpPr>
            <p:cNvPr id="158" name="Rectángulo 157">
              <a:extLst>
                <a:ext uri="{FF2B5EF4-FFF2-40B4-BE49-F238E27FC236}">
                  <a16:creationId xmlns:a16="http://schemas.microsoft.com/office/drawing/2014/main" id="{2EB24AA3-9073-12E2-FB44-84DA225E1C9C}"/>
                </a:ext>
              </a:extLst>
            </p:cNvPr>
            <p:cNvSpPr/>
            <p:nvPr/>
          </p:nvSpPr>
          <p:spPr>
            <a:xfrm>
              <a:off x="7428460" y="2915062"/>
              <a:ext cx="1300249" cy="203716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s-ES" sz="700" b="1" noProof="1">
                  <a:solidFill>
                    <a:srgbClr val="7030A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If yes: </a:t>
              </a:r>
              <a:r>
                <a:rPr lang="es-ES" sz="700" noProof="1">
                  <a:solidFill>
                    <a:srgbClr val="7030A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point to pros a cons.</a:t>
              </a:r>
            </a:p>
          </p:txBody>
        </p:sp>
        <p:sp>
          <p:nvSpPr>
            <p:cNvPr id="159" name="Rectángulo 158">
              <a:extLst>
                <a:ext uri="{FF2B5EF4-FFF2-40B4-BE49-F238E27FC236}">
                  <a16:creationId xmlns:a16="http://schemas.microsoft.com/office/drawing/2014/main" id="{E6415C6B-141F-7B7B-BDB9-D1075A5580F8}"/>
                </a:ext>
              </a:extLst>
            </p:cNvPr>
            <p:cNvSpPr/>
            <p:nvPr/>
          </p:nvSpPr>
          <p:spPr>
            <a:xfrm>
              <a:off x="7318937" y="2963216"/>
              <a:ext cx="108000" cy="108000"/>
            </a:xfrm>
            <a:prstGeom prst="rect">
              <a:avLst/>
            </a:prstGeom>
            <a:solidFill>
              <a:schemeClr val="bg1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600" dirty="0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s-ES" sz="2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69" name="Grupo 168">
            <a:extLst>
              <a:ext uri="{FF2B5EF4-FFF2-40B4-BE49-F238E27FC236}">
                <a16:creationId xmlns:a16="http://schemas.microsoft.com/office/drawing/2014/main" id="{8AA969FD-8818-CF43-62D3-E9E008DC0CE1}"/>
              </a:ext>
            </a:extLst>
          </p:cNvPr>
          <p:cNvGrpSpPr/>
          <p:nvPr/>
        </p:nvGrpSpPr>
        <p:grpSpPr>
          <a:xfrm>
            <a:off x="7318937" y="1440162"/>
            <a:ext cx="1263022" cy="203716"/>
            <a:chOff x="7318937" y="3144502"/>
            <a:chExt cx="1263022" cy="203716"/>
          </a:xfrm>
        </p:grpSpPr>
        <p:sp>
          <p:nvSpPr>
            <p:cNvPr id="161" name="Rectángulo 160">
              <a:extLst>
                <a:ext uri="{FF2B5EF4-FFF2-40B4-BE49-F238E27FC236}">
                  <a16:creationId xmlns:a16="http://schemas.microsoft.com/office/drawing/2014/main" id="{0156AFE4-3C30-0B6C-7316-1AC54AFFEC89}"/>
                </a:ext>
              </a:extLst>
            </p:cNvPr>
            <p:cNvSpPr/>
            <p:nvPr/>
          </p:nvSpPr>
          <p:spPr>
            <a:xfrm>
              <a:off x="7428460" y="3144502"/>
              <a:ext cx="1153499" cy="203716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s-ES" sz="700" noProof="1">
                  <a:solidFill>
                    <a:srgbClr val="7030A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This block might be dispensable</a:t>
              </a:r>
            </a:p>
          </p:txBody>
        </p:sp>
        <p:sp>
          <p:nvSpPr>
            <p:cNvPr id="162" name="Rectángulo 161">
              <a:extLst>
                <a:ext uri="{FF2B5EF4-FFF2-40B4-BE49-F238E27FC236}">
                  <a16:creationId xmlns:a16="http://schemas.microsoft.com/office/drawing/2014/main" id="{6B0FB092-9787-0A83-2D92-EBEB437728BD}"/>
                </a:ext>
              </a:extLst>
            </p:cNvPr>
            <p:cNvSpPr/>
            <p:nvPr/>
          </p:nvSpPr>
          <p:spPr>
            <a:xfrm>
              <a:off x="7318937" y="3192656"/>
              <a:ext cx="108000" cy="108000"/>
            </a:xfrm>
            <a:prstGeom prst="rect">
              <a:avLst/>
            </a:prstGeom>
            <a:solidFill>
              <a:schemeClr val="bg1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600" dirty="0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s-ES" sz="2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70" name="Grupo 169">
            <a:extLst>
              <a:ext uri="{FF2B5EF4-FFF2-40B4-BE49-F238E27FC236}">
                <a16:creationId xmlns:a16="http://schemas.microsoft.com/office/drawing/2014/main" id="{0D5E4312-B095-1B1B-9079-CB977AA432AA}"/>
              </a:ext>
            </a:extLst>
          </p:cNvPr>
          <p:cNvGrpSpPr/>
          <p:nvPr/>
        </p:nvGrpSpPr>
        <p:grpSpPr>
          <a:xfrm>
            <a:off x="7318937" y="1758501"/>
            <a:ext cx="1355671" cy="203716"/>
            <a:chOff x="7318937" y="3373941"/>
            <a:chExt cx="1355671" cy="203716"/>
          </a:xfrm>
        </p:grpSpPr>
        <p:sp>
          <p:nvSpPr>
            <p:cNvPr id="164" name="Rectángulo 163">
              <a:extLst>
                <a:ext uri="{FF2B5EF4-FFF2-40B4-BE49-F238E27FC236}">
                  <a16:creationId xmlns:a16="http://schemas.microsoft.com/office/drawing/2014/main" id="{185FBAA8-6694-64D1-CF41-9556FE998575}"/>
                </a:ext>
              </a:extLst>
            </p:cNvPr>
            <p:cNvSpPr/>
            <p:nvPr/>
          </p:nvSpPr>
          <p:spPr>
            <a:xfrm>
              <a:off x="7428460" y="3373941"/>
              <a:ext cx="1246148" cy="203716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s-ES" sz="700" b="1" noProof="1">
                  <a:solidFill>
                    <a:srgbClr val="7030A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What are the relevant features in synth data? </a:t>
              </a:r>
              <a:endParaRPr lang="es-ES" sz="700" noProof="1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5" name="Rectángulo 164">
              <a:extLst>
                <a:ext uri="{FF2B5EF4-FFF2-40B4-BE49-F238E27FC236}">
                  <a16:creationId xmlns:a16="http://schemas.microsoft.com/office/drawing/2014/main" id="{0AEFE25C-52BC-96BE-B890-41C420DC46C4}"/>
                </a:ext>
              </a:extLst>
            </p:cNvPr>
            <p:cNvSpPr/>
            <p:nvPr/>
          </p:nvSpPr>
          <p:spPr>
            <a:xfrm>
              <a:off x="7318937" y="3422095"/>
              <a:ext cx="108000" cy="108000"/>
            </a:xfrm>
            <a:prstGeom prst="rect">
              <a:avLst/>
            </a:prstGeom>
            <a:solidFill>
              <a:schemeClr val="bg1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600" dirty="0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endParaRPr lang="es-ES" sz="2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71" name="Rectángulo 170">
            <a:extLst>
              <a:ext uri="{FF2B5EF4-FFF2-40B4-BE49-F238E27FC236}">
                <a16:creationId xmlns:a16="http://schemas.microsoft.com/office/drawing/2014/main" id="{7EE1CEE1-7ECF-E1FB-37A9-3CB7BE010AEB}"/>
              </a:ext>
            </a:extLst>
          </p:cNvPr>
          <p:cNvSpPr/>
          <p:nvPr/>
        </p:nvSpPr>
        <p:spPr>
          <a:xfrm>
            <a:off x="7379179" y="55289"/>
            <a:ext cx="1153499" cy="45640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200" b="1" noProof="1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Legend</a:t>
            </a:r>
          </a:p>
        </p:txBody>
      </p:sp>
    </p:spTree>
    <p:extLst>
      <p:ext uri="{BB962C8B-B14F-4D97-AF65-F5344CB8AC3E}">
        <p14:creationId xmlns:p14="http://schemas.microsoft.com/office/powerpoint/2010/main" val="11290482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62CAC-DB09-BFD5-B909-73303BDB9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ángulo 23">
            <a:extLst>
              <a:ext uri="{FF2B5EF4-FFF2-40B4-BE49-F238E27FC236}">
                <a16:creationId xmlns:a16="http://schemas.microsoft.com/office/drawing/2014/main" id="{A14DFFDD-9DB9-6EE9-4FD7-CB7A13D2E3D9}"/>
              </a:ext>
            </a:extLst>
          </p:cNvPr>
          <p:cNvSpPr/>
          <p:nvPr/>
        </p:nvSpPr>
        <p:spPr>
          <a:xfrm>
            <a:off x="367044" y="121912"/>
            <a:ext cx="4557607" cy="45640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1600" b="1" noProof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Extractive Task on Tables: Workflow Results</a:t>
            </a: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D82E6A8D-5A97-3932-45A6-7A0F89F775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4302236"/>
              </p:ext>
            </p:extLst>
          </p:nvPr>
        </p:nvGraphicFramePr>
        <p:xfrm>
          <a:off x="440242" y="1282774"/>
          <a:ext cx="6364981" cy="2265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09283">
                  <a:extLst>
                    <a:ext uri="{9D8B030D-6E8A-4147-A177-3AD203B41FA5}">
                      <a16:colId xmlns:a16="http://schemas.microsoft.com/office/drawing/2014/main" val="2306468671"/>
                    </a:ext>
                  </a:extLst>
                </a:gridCol>
                <a:gridCol w="909283">
                  <a:extLst>
                    <a:ext uri="{9D8B030D-6E8A-4147-A177-3AD203B41FA5}">
                      <a16:colId xmlns:a16="http://schemas.microsoft.com/office/drawing/2014/main" val="3423488469"/>
                    </a:ext>
                  </a:extLst>
                </a:gridCol>
                <a:gridCol w="909283">
                  <a:extLst>
                    <a:ext uri="{9D8B030D-6E8A-4147-A177-3AD203B41FA5}">
                      <a16:colId xmlns:a16="http://schemas.microsoft.com/office/drawing/2014/main" val="1424599656"/>
                    </a:ext>
                  </a:extLst>
                </a:gridCol>
                <a:gridCol w="909283">
                  <a:extLst>
                    <a:ext uri="{9D8B030D-6E8A-4147-A177-3AD203B41FA5}">
                      <a16:colId xmlns:a16="http://schemas.microsoft.com/office/drawing/2014/main" val="724512868"/>
                    </a:ext>
                  </a:extLst>
                </a:gridCol>
                <a:gridCol w="909283">
                  <a:extLst>
                    <a:ext uri="{9D8B030D-6E8A-4147-A177-3AD203B41FA5}">
                      <a16:colId xmlns:a16="http://schemas.microsoft.com/office/drawing/2014/main" val="2614341867"/>
                    </a:ext>
                  </a:extLst>
                </a:gridCol>
                <a:gridCol w="909283">
                  <a:extLst>
                    <a:ext uri="{9D8B030D-6E8A-4147-A177-3AD203B41FA5}">
                      <a16:colId xmlns:a16="http://schemas.microsoft.com/office/drawing/2014/main" val="4140790765"/>
                    </a:ext>
                  </a:extLst>
                </a:gridCol>
                <a:gridCol w="909283">
                  <a:extLst>
                    <a:ext uri="{9D8B030D-6E8A-4147-A177-3AD203B41FA5}">
                      <a16:colId xmlns:a16="http://schemas.microsoft.com/office/drawing/2014/main" val="36124965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sz="900" b="1" noProof="0" dirty="0">
                        <a:solidFill>
                          <a:srgbClr val="7030A0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050" b="1" noProof="0" dirty="0">
                          <a:solidFill>
                            <a:srgbClr val="7030A0"/>
                          </a:solidFill>
                        </a:rPr>
                        <a:t>0/Few-shot Models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F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050" b="1" noProof="0" dirty="0">
                        <a:solidFill>
                          <a:srgbClr val="7030A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F5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050" b="1" noProof="0" dirty="0">
                          <a:solidFill>
                            <a:srgbClr val="7030A0"/>
                          </a:solidFill>
                        </a:rPr>
                        <a:t>Fine Tuned Models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F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s-ES" sz="1050" dirty="0">
                        <a:solidFill>
                          <a:srgbClr val="7030A0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F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s-ES" sz="1050" dirty="0">
                        <a:solidFill>
                          <a:srgbClr val="7030A0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93095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900" noProof="0" dirty="0">
                        <a:solidFill>
                          <a:srgbClr val="7030A0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2398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noProof="0" dirty="0">
                          <a:solidFill>
                            <a:srgbClr val="7030A0"/>
                          </a:solidFill>
                        </a:rPr>
                        <a:t>gpt4-o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2398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noProof="0" dirty="0" err="1">
                          <a:solidFill>
                            <a:srgbClr val="7030A0"/>
                          </a:solidFill>
                        </a:rPr>
                        <a:t>pixtral</a:t>
                      </a:r>
                      <a:endParaRPr lang="en-US" sz="900" noProof="0" dirty="0">
                        <a:solidFill>
                          <a:srgbClr val="7030A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2398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noProof="0" dirty="0">
                          <a:solidFill>
                            <a:srgbClr val="7030A0"/>
                          </a:solidFill>
                        </a:rPr>
                        <a:t>gpt4-o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noProof="0" dirty="0">
                          <a:solidFill>
                            <a:srgbClr val="7030A0"/>
                          </a:solidFill>
                        </a:rPr>
                        <a:t>Donut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noProof="0" dirty="0">
                          <a:solidFill>
                            <a:srgbClr val="7030A0"/>
                          </a:solidFill>
                        </a:rPr>
                        <a:t>Idefics2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noProof="0" dirty="0">
                          <a:solidFill>
                            <a:srgbClr val="7030A0"/>
                          </a:solidFill>
                        </a:rPr>
                        <a:t>Donut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26889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900" noProof="0" dirty="0">
                          <a:solidFill>
                            <a:srgbClr val="7030A0"/>
                          </a:solidFill>
                        </a:rPr>
                        <a:t>f1 score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noProof="0" dirty="0"/>
                        <a:t>0.836 / 0.752</a:t>
                      </a:r>
                    </a:p>
                    <a:p>
                      <a:pPr algn="l"/>
                      <a:r>
                        <a:rPr lang="en-US" sz="1050" noProof="0" dirty="0"/>
                        <a:t>0.929 / 0.885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noProof="0" dirty="0"/>
                        <a:t>0.917 / 0.713</a:t>
                      </a:r>
                    </a:p>
                    <a:p>
                      <a:pPr algn="l"/>
                      <a:r>
                        <a:rPr lang="en-US" sz="1050" noProof="0" dirty="0"/>
                        <a:t>0.xyz / 0.808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1050" noProof="0" dirty="0"/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1050" noProof="0" dirty="0"/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1050" noProof="0" dirty="0"/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1050" noProof="0" dirty="0"/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39078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900" noProof="0" dirty="0">
                          <a:solidFill>
                            <a:srgbClr val="7030A0"/>
                          </a:solidFill>
                        </a:rPr>
                        <a:t>Variable Cost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1050" noProof="0" dirty="0"/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1050" noProof="0" dirty="0"/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1050" noProof="0" dirty="0"/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1050" noProof="0" dirty="0"/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1050" noProof="0" dirty="0"/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1050" noProof="0" dirty="0"/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06343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900" noProof="0" dirty="0">
                          <a:solidFill>
                            <a:srgbClr val="7030A0"/>
                          </a:solidFill>
                        </a:rPr>
                        <a:t>Data Privacy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noProof="0" dirty="0">
                          <a:solidFill>
                            <a:srgbClr val="0070C0"/>
                          </a:solidFill>
                        </a:rPr>
                        <a:t>False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noProof="0" dirty="0">
                          <a:solidFill>
                            <a:srgbClr val="0070C0"/>
                          </a:solidFill>
                        </a:rPr>
                        <a:t>False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noProof="0" dirty="0">
                          <a:solidFill>
                            <a:srgbClr val="0070C0"/>
                          </a:solidFill>
                        </a:rPr>
                        <a:t>True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noProof="0" dirty="0">
                          <a:solidFill>
                            <a:srgbClr val="0070C0"/>
                          </a:solidFill>
                        </a:rPr>
                        <a:t>True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noProof="0" dirty="0">
                          <a:solidFill>
                            <a:srgbClr val="0070C0"/>
                          </a:solidFill>
                        </a:rPr>
                        <a:t>True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noProof="0" dirty="0">
                          <a:solidFill>
                            <a:srgbClr val="0070C0"/>
                          </a:solidFill>
                        </a:rPr>
                        <a:t>True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81917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900" noProof="0" dirty="0">
                          <a:solidFill>
                            <a:srgbClr val="7030A0"/>
                          </a:solidFill>
                        </a:rPr>
                        <a:t>Custom Data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noProof="0" dirty="0">
                          <a:solidFill>
                            <a:srgbClr val="0070C0"/>
                          </a:solidFill>
                        </a:rPr>
                        <a:t>False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noProof="0" dirty="0">
                          <a:solidFill>
                            <a:srgbClr val="0070C0"/>
                          </a:solidFill>
                        </a:rPr>
                        <a:t>False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noProof="0" dirty="0">
                          <a:solidFill>
                            <a:srgbClr val="0070C0"/>
                          </a:solidFill>
                        </a:rPr>
                        <a:t>False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noProof="0" dirty="0">
                          <a:solidFill>
                            <a:srgbClr val="0070C0"/>
                          </a:solidFill>
                        </a:rPr>
                        <a:t>True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noProof="0" dirty="0">
                          <a:solidFill>
                            <a:srgbClr val="0070C0"/>
                          </a:solidFill>
                        </a:rPr>
                        <a:t>True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noProof="0" dirty="0">
                          <a:solidFill>
                            <a:srgbClr val="0070C0"/>
                          </a:solidFill>
                        </a:rPr>
                        <a:t>True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269672"/>
                  </a:ext>
                </a:extLst>
              </a:tr>
            </a:tbl>
          </a:graphicData>
        </a:graphic>
      </p:graphicFrame>
      <p:sp>
        <p:nvSpPr>
          <p:cNvPr id="3" name="Rectángulo 2">
            <a:extLst>
              <a:ext uri="{FF2B5EF4-FFF2-40B4-BE49-F238E27FC236}">
                <a16:creationId xmlns:a16="http://schemas.microsoft.com/office/drawing/2014/main" id="{E9034507-B2E2-95F1-538C-0C9C97279299}"/>
              </a:ext>
            </a:extLst>
          </p:cNvPr>
          <p:cNvSpPr/>
          <p:nvPr/>
        </p:nvSpPr>
        <p:spPr>
          <a:xfrm>
            <a:off x="440242" y="4008558"/>
            <a:ext cx="5226055" cy="203716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700" b="1" noProof="1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table is a support to guide the Introducction of the paper.</a:t>
            </a:r>
            <a:endParaRPr lang="en-US" sz="700" noProof="1">
              <a:solidFill>
                <a:srgbClr val="7030A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6FBAD850-F521-3F4B-AFCB-B1360A7EE320}"/>
              </a:ext>
            </a:extLst>
          </p:cNvPr>
          <p:cNvSpPr/>
          <p:nvPr/>
        </p:nvSpPr>
        <p:spPr>
          <a:xfrm>
            <a:off x="7081607" y="0"/>
            <a:ext cx="1726571" cy="4679950"/>
          </a:xfrm>
          <a:prstGeom prst="rect">
            <a:avLst/>
          </a:prstGeom>
          <a:solidFill>
            <a:srgbClr val="39003D">
              <a:alpha val="5000"/>
            </a:srgbClr>
          </a:solidFill>
          <a:ln w="1270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02F186"/>
              </a:solidFill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386F304-DDA5-002A-CEEF-B3AE718A6339}"/>
              </a:ext>
            </a:extLst>
          </p:cNvPr>
          <p:cNvSpPr/>
          <p:nvPr/>
        </p:nvSpPr>
        <p:spPr>
          <a:xfrm>
            <a:off x="7379179" y="55289"/>
            <a:ext cx="1153499" cy="45640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200" b="1" noProof="1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Scope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587AD27-C669-7182-B512-5DD777611C60}"/>
              </a:ext>
            </a:extLst>
          </p:cNvPr>
          <p:cNvSpPr/>
          <p:nvPr/>
        </p:nvSpPr>
        <p:spPr>
          <a:xfrm>
            <a:off x="7347180" y="803482"/>
            <a:ext cx="1300249" cy="395398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b="1" noProof="1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Modality: </a:t>
            </a:r>
            <a:r>
              <a:rPr lang="es-ES" sz="700" noProof="1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Non-native digital documents (images), i.e.: no PDF.</a:t>
            </a:r>
          </a:p>
        </p:txBody>
      </p:sp>
    </p:spTree>
    <p:extLst>
      <p:ext uri="{BB962C8B-B14F-4D97-AF65-F5344CB8AC3E}">
        <p14:creationId xmlns:p14="http://schemas.microsoft.com/office/powerpoint/2010/main" val="25547614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B9AAA-AF27-AFA3-87F4-DFE0332EF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ángulo 23">
            <a:extLst>
              <a:ext uri="{FF2B5EF4-FFF2-40B4-BE49-F238E27FC236}">
                <a16:creationId xmlns:a16="http://schemas.microsoft.com/office/drawing/2014/main" id="{511B982F-1A86-B390-23B3-A827D7920B65}"/>
              </a:ext>
            </a:extLst>
          </p:cNvPr>
          <p:cNvSpPr/>
          <p:nvPr/>
        </p:nvSpPr>
        <p:spPr>
          <a:xfrm>
            <a:off x="367044" y="121912"/>
            <a:ext cx="5226055" cy="45640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1600" b="1" noProof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Extractive Task on Tables: Introduction Keypoints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2AE5087-E297-D6DA-45AC-56E7102C8C52}"/>
              </a:ext>
            </a:extLst>
          </p:cNvPr>
          <p:cNvSpPr txBox="1"/>
          <p:nvPr/>
        </p:nvSpPr>
        <p:spPr>
          <a:xfrm>
            <a:off x="1401247" y="1292782"/>
            <a:ext cx="60176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noProof="1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extraction from non-native digital documents is still a challenge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D99427FB-D245-1C78-3A69-80D2701ED38A}"/>
              </a:ext>
            </a:extLst>
          </p:cNvPr>
          <p:cNvSpPr txBox="1"/>
          <p:nvPr/>
        </p:nvSpPr>
        <p:spPr>
          <a:xfrm>
            <a:off x="1401246" y="1907277"/>
            <a:ext cx="60176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noProof="1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SaaS services limit accessibility to image analysis (OpenAI API assistant, tiers and o1)  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698E9A8E-3B75-8FAA-48DC-13D5D12F30A0}"/>
              </a:ext>
            </a:extLst>
          </p:cNvPr>
          <p:cNvSpPr txBox="1"/>
          <p:nvPr/>
        </p:nvSpPr>
        <p:spPr>
          <a:xfrm>
            <a:off x="1401245" y="2737215"/>
            <a:ext cx="60176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noProof="1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0/Few shot local models show weaknesses (still to explore)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C91E8D6-7A93-A68F-BE0C-05E302263044}"/>
              </a:ext>
            </a:extLst>
          </p:cNvPr>
          <p:cNvSpPr txBox="1"/>
          <p:nvPr/>
        </p:nvSpPr>
        <p:spPr>
          <a:xfrm>
            <a:off x="1401244" y="3351711"/>
            <a:ext cx="60176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noProof="1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Fine tuning requires data efficiency → Paper motivation</a:t>
            </a:r>
          </a:p>
        </p:txBody>
      </p:sp>
    </p:spTree>
    <p:extLst>
      <p:ext uri="{BB962C8B-B14F-4D97-AF65-F5344CB8AC3E}">
        <p14:creationId xmlns:p14="http://schemas.microsoft.com/office/powerpoint/2010/main" val="26974952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Tema de 2022">
  <a:themeElements>
    <a:clrScheme name="Office 2013 - Tema de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Tema de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Tema de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10408</TotalTime>
  <Words>211</Words>
  <Application>Microsoft Office PowerPoint</Application>
  <PresentationFormat>Personalizado</PresentationFormat>
  <Paragraphs>65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2013 - Tema de 2022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Ignacio de Rodrigo Tobías</dc:creator>
  <cp:lastModifiedBy>Ignacio de Rodrigo Tobías</cp:lastModifiedBy>
  <cp:revision>63</cp:revision>
  <dcterms:created xsi:type="dcterms:W3CDTF">2023-07-21T00:33:50Z</dcterms:created>
  <dcterms:modified xsi:type="dcterms:W3CDTF">2025-01-14T15:04:46Z</dcterms:modified>
</cp:coreProperties>
</file>